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DFCFA"/>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B8772E"/>
          </a:solidFill>
          <a:ln/>
        </p:spPr>
      </p:sp>
      <p:sp>
        <p:nvSpPr>
          <p:cNvPr id="3" name="Text 1"/>
          <p:cNvSpPr/>
          <p:nvPr/>
        </p:nvSpPr>
        <p:spPr>
          <a:xfrm>
            <a:off x="978408" y="2331720"/>
            <a:ext cx="7315200" cy="457200"/>
          </a:xfrm>
          <a:prstGeom prst="rect">
            <a:avLst/>
          </a:prstGeom>
          <a:noFill/>
          <a:ln/>
        </p:spPr>
        <p:txBody>
          <a:bodyPr wrap="square" lIns="0" tIns="0" rIns="0" bIns="0" rtlCol="0" anchor="t"/>
          <a:lstStyle/>
          <a:p>
            <a:pPr indent="0" marL="0">
              <a:buNone/>
            </a:pPr>
            <a:r>
              <a:rPr lang="en-US" sz="1500" b="1" dirty="0">
                <a:solidFill>
                  <a:srgbClr val="B8772E"/>
                </a:solidFill>
                <a:latin typeface="Yu Gothic" pitchFamily="34" charset="0"/>
                <a:ea typeface="Yu Gothic" pitchFamily="34" charset="-122"/>
                <a:cs typeface="Yu Gothic" pitchFamily="34" charset="-120"/>
              </a:rPr>
              <a:t>INCUBATION TEAM</a:t>
            </a:r>
            <a:endParaRPr lang="en-US" sz="1500" dirty="0"/>
          </a:p>
        </p:txBody>
      </p:sp>
      <p:sp>
        <p:nvSpPr>
          <p:cNvPr id="4" name="Text 2"/>
          <p:cNvSpPr/>
          <p:nvPr/>
        </p:nvSpPr>
        <p:spPr>
          <a:xfrm>
            <a:off x="978408" y="2788920"/>
            <a:ext cx="9144000" cy="1005840"/>
          </a:xfrm>
          <a:prstGeom prst="rect">
            <a:avLst/>
          </a:prstGeom>
          <a:noFill/>
          <a:ln/>
        </p:spPr>
        <p:txBody>
          <a:bodyPr wrap="square" lIns="0" tIns="0" rIns="0" bIns="0" rtlCol="0" anchor="t"/>
          <a:lstStyle/>
          <a:p>
            <a:pPr indent="0" marL="0">
              <a:buNone/>
            </a:pPr>
            <a:r>
              <a:rPr lang="en-US" sz="5200" b="1" dirty="0">
                <a:solidFill>
                  <a:srgbClr val="222222"/>
                </a:solidFill>
                <a:latin typeface="Yu Gothic" pitchFamily="34" charset="0"/>
                <a:ea typeface="Yu Gothic" pitchFamily="34" charset="-122"/>
                <a:cs typeface="Yu Gothic" pitchFamily="34" charset="-120"/>
              </a:rPr>
              <a:t>OKR レビュー</a:t>
            </a:r>
            <a:endParaRPr lang="en-US" sz="5200" dirty="0"/>
          </a:p>
        </p:txBody>
      </p:sp>
      <p:sp>
        <p:nvSpPr>
          <p:cNvPr id="5" name="Text 3"/>
          <p:cNvSpPr/>
          <p:nvPr/>
        </p:nvSpPr>
        <p:spPr>
          <a:xfrm>
            <a:off x="978408" y="3886200"/>
            <a:ext cx="9144000" cy="548640"/>
          </a:xfrm>
          <a:prstGeom prst="rect">
            <a:avLst/>
          </a:prstGeom>
          <a:noFill/>
          <a:ln/>
        </p:spPr>
        <p:txBody>
          <a:bodyPr wrap="square" lIns="0" tIns="0" rIns="0" bIns="0" rtlCol="0" anchor="t"/>
          <a:lstStyle/>
          <a:p>
            <a:pPr indent="0" marL="0">
              <a:buNone/>
            </a:pPr>
            <a:r>
              <a:rPr lang="en-US" sz="2400" dirty="0">
                <a:solidFill>
                  <a:srgbClr val="707070"/>
                </a:solidFill>
                <a:latin typeface="Yu Gothic" pitchFamily="34" charset="0"/>
                <a:ea typeface="Yu Gothic" pitchFamily="34" charset="-122"/>
                <a:cs typeface="Yu Gothic" pitchFamily="34" charset="-120"/>
              </a:rPr>
              <a:t>Q3 振り返り ＆ Q4（7月〜）に向けて</a:t>
            </a:r>
            <a:endParaRPr lang="en-US" sz="2400" dirty="0"/>
          </a:p>
        </p:txBody>
      </p:sp>
      <p:sp>
        <p:nvSpPr>
          <p:cNvPr id="6" name="Shape 4"/>
          <p:cNvSpPr/>
          <p:nvPr/>
        </p:nvSpPr>
        <p:spPr>
          <a:xfrm>
            <a:off x="996696" y="4892040"/>
            <a:ext cx="1828800" cy="45720"/>
          </a:xfrm>
          <a:prstGeom prst="rect">
            <a:avLst/>
          </a:prstGeom>
          <a:solidFill>
            <a:srgbClr val="E4E1DC"/>
          </a:solidFill>
          <a:ln/>
        </p:spPr>
      </p:sp>
      <p:sp>
        <p:nvSpPr>
          <p:cNvPr id="7" name="Text 5"/>
          <p:cNvSpPr/>
          <p:nvPr/>
        </p:nvSpPr>
        <p:spPr>
          <a:xfrm>
            <a:off x="978408" y="5074920"/>
            <a:ext cx="9144000" cy="457200"/>
          </a:xfrm>
          <a:prstGeom prst="rect">
            <a:avLst/>
          </a:prstGeom>
          <a:noFill/>
          <a:ln/>
        </p:spPr>
        <p:txBody>
          <a:bodyPr wrap="square" lIns="0" tIns="0" rIns="0" bIns="0" rtlCol="0" anchor="t"/>
          <a:lstStyle/>
          <a:p>
            <a:pPr indent="0" marL="0">
              <a:buNone/>
            </a:pPr>
            <a:r>
              <a:rPr lang="en-US" sz="1400" dirty="0">
                <a:solidFill>
                  <a:srgbClr val="707070"/>
                </a:solidFill>
                <a:latin typeface="Yu Gothic" pitchFamily="34" charset="0"/>
                <a:ea typeface="Yu Gothic" pitchFamily="34" charset="-122"/>
                <a:cs typeface="Yu Gothic" pitchFamily="34" charset="-120"/>
              </a:rPr>
              <a:t>リーダー定例用サマリー　／　2026-06-28</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CFA"/>
        </a:solidFill>
      </p:bgPr>
    </p:bg>
    <p:spTree>
      <p:nvGrpSpPr>
        <p:cNvPr id="1" name=""/>
        <p:cNvGrpSpPr/>
        <p:nvPr/>
      </p:nvGrpSpPr>
      <p:grpSpPr>
        <a:xfrm>
          <a:off x="0" y="0"/>
          <a:ext cx="0" cy="0"/>
          <a:chOff x="0" y="0"/>
          <a:chExt cx="0" cy="0"/>
        </a:xfrm>
      </p:grpSpPr>
      <p:sp>
        <p:nvSpPr>
          <p:cNvPr id="2" name="Shape 0"/>
          <p:cNvSpPr/>
          <p:nvPr/>
        </p:nvSpPr>
        <p:spPr>
          <a:xfrm>
            <a:off x="841248" y="566928"/>
            <a:ext cx="384048" cy="77724"/>
          </a:xfrm>
          <a:prstGeom prst="rect">
            <a:avLst/>
          </a:prstGeom>
          <a:solidFill>
            <a:srgbClr val="B8772E"/>
          </a:solidFill>
          <a:ln/>
        </p:spPr>
      </p:sp>
      <p:sp>
        <p:nvSpPr>
          <p:cNvPr id="3" name="Text 1"/>
          <p:cNvSpPr/>
          <p:nvPr/>
        </p:nvSpPr>
        <p:spPr>
          <a:xfrm>
            <a:off x="841248" y="731520"/>
            <a:ext cx="10509199" cy="365760"/>
          </a:xfrm>
          <a:prstGeom prst="rect">
            <a:avLst/>
          </a:prstGeom>
          <a:noFill/>
          <a:ln/>
        </p:spPr>
        <p:txBody>
          <a:bodyPr wrap="square" lIns="0" tIns="0" rIns="0" bIns="0" rtlCol="0" anchor="t"/>
          <a:lstStyle/>
          <a:p>
            <a:pPr indent="0" marL="0">
              <a:buNone/>
            </a:pPr>
            <a:r>
              <a:rPr lang="en-US" sz="1350" b="1" dirty="0">
                <a:solidFill>
                  <a:srgbClr val="B8772E"/>
                </a:solidFill>
                <a:latin typeface="Yu Gothic" pitchFamily="34" charset="0"/>
                <a:ea typeface="Yu Gothic" pitchFamily="34" charset="-122"/>
                <a:cs typeface="Yu Gothic" pitchFamily="34" charset="-120"/>
              </a:rPr>
              <a:t>Q3 ｜ 振り返り</a:t>
            </a:r>
            <a:endParaRPr lang="en-US" sz="1350" dirty="0"/>
          </a:p>
        </p:txBody>
      </p:sp>
      <p:sp>
        <p:nvSpPr>
          <p:cNvPr id="4" name="Text 2"/>
          <p:cNvSpPr/>
          <p:nvPr/>
        </p:nvSpPr>
        <p:spPr>
          <a:xfrm>
            <a:off x="841248" y="1078992"/>
            <a:ext cx="10509199" cy="868680"/>
          </a:xfrm>
          <a:prstGeom prst="rect">
            <a:avLst/>
          </a:prstGeom>
          <a:noFill/>
          <a:ln/>
        </p:spPr>
        <p:txBody>
          <a:bodyPr wrap="square" lIns="0" tIns="0" rIns="0" bIns="0" rtlCol="0" anchor="t"/>
          <a:lstStyle/>
          <a:p>
            <a:pPr indent="0" marL="0">
              <a:lnSpc>
                <a:spcPct val="105000"/>
              </a:lnSpc>
              <a:buNone/>
            </a:pPr>
            <a:r>
              <a:rPr lang="en-US" sz="2700" b="1" dirty="0">
                <a:solidFill>
                  <a:srgbClr val="222222"/>
                </a:solidFill>
                <a:latin typeface="Yu Gothic" pitchFamily="34" charset="0"/>
                <a:ea typeface="Yu Gothic" pitchFamily="34" charset="-122"/>
                <a:cs typeface="Yu Gothic" pitchFamily="34" charset="-120"/>
              </a:rPr>
              <a:t>Objective：来期以降、民主化を推進する準備をする</a:t>
            </a:r>
            <a:endParaRPr lang="en-US" sz="2700" dirty="0"/>
          </a:p>
        </p:txBody>
      </p:sp>
      <p:sp>
        <p:nvSpPr>
          <p:cNvPr id="5" name="Shape 3"/>
          <p:cNvSpPr/>
          <p:nvPr/>
        </p:nvSpPr>
        <p:spPr>
          <a:xfrm>
            <a:off x="841248" y="2331720"/>
            <a:ext cx="3259226" cy="3063240"/>
          </a:xfrm>
          <a:prstGeom prst="rect">
            <a:avLst/>
          </a:prstGeom>
          <a:solidFill>
            <a:srgbClr val="F7F2EA"/>
          </a:solidFill>
          <a:ln w="12700">
            <a:solidFill>
              <a:srgbClr val="E4E1DC"/>
            </a:solidFill>
            <a:prstDash val="solid"/>
          </a:ln>
        </p:spPr>
      </p:sp>
      <p:sp>
        <p:nvSpPr>
          <p:cNvPr id="6" name="Shape 4"/>
          <p:cNvSpPr/>
          <p:nvPr/>
        </p:nvSpPr>
        <p:spPr>
          <a:xfrm>
            <a:off x="841248" y="2331720"/>
            <a:ext cx="3259226" cy="82296"/>
          </a:xfrm>
          <a:prstGeom prst="rect">
            <a:avLst/>
          </a:prstGeom>
          <a:solidFill>
            <a:srgbClr val="4E8A5C"/>
          </a:solidFill>
          <a:ln/>
        </p:spPr>
      </p:sp>
      <p:sp>
        <p:nvSpPr>
          <p:cNvPr id="7" name="Text 5"/>
          <p:cNvSpPr/>
          <p:nvPr/>
        </p:nvSpPr>
        <p:spPr>
          <a:xfrm>
            <a:off x="1097280" y="2624328"/>
            <a:ext cx="2747162" cy="2194560"/>
          </a:xfrm>
          <a:prstGeom prst="rect">
            <a:avLst/>
          </a:prstGeom>
          <a:noFill/>
          <a:ln/>
        </p:spPr>
        <p:txBody>
          <a:bodyPr wrap="square" lIns="0" tIns="0" rIns="0" bIns="0" rtlCol="0" anchor="t"/>
          <a:lstStyle/>
          <a:p>
            <a:pPr indent="0" marL="0">
              <a:spcAft>
                <a:spcPts val="800"/>
              </a:spcAft>
              <a:buNone/>
            </a:pPr>
            <a:r>
              <a:rPr lang="en-US" sz="2200" b="1" dirty="0">
                <a:solidFill>
                  <a:srgbClr val="222222"/>
                </a:solidFill>
                <a:latin typeface="Yu Gothic" pitchFamily="34" charset="0"/>
                <a:ea typeface="Yu Gothic" pitchFamily="34" charset="-122"/>
                <a:cs typeface="Yu Gothic" pitchFamily="34" charset="-120"/>
              </a:rPr>
              <a:t>KR1</a:t>
            </a:r>
            <a:endParaRPr lang="en-US" sz="2200" dirty="0"/>
          </a:p>
          <a:p>
            <a:pPr indent="0" marL="0">
              <a:lnSpc>
                <a:spcPct val="120000"/>
              </a:lnSpc>
              <a:spcAft>
                <a:spcPts val="1400"/>
              </a:spcAft>
              <a:buNone/>
            </a:pPr>
            <a:r>
              <a:rPr lang="en-US" sz="1350" dirty="0">
                <a:solidFill>
                  <a:srgbClr val="707070"/>
                </a:solidFill>
                <a:latin typeface="Yu Gothic" pitchFamily="34" charset="0"/>
                <a:ea typeface="Yu Gothic" pitchFamily="34" charset="-122"/>
                <a:cs typeface="Yu Gothic" pitchFamily="34" charset="-120"/>
              </a:rPr>
              <a:t>パイプライン増</a:t>
            </a:r>
            <a:endParaRPr lang="en-US" sz="2200" dirty="0"/>
          </a:p>
          <a:p>
            <a:pPr indent="0" marL="0">
              <a:lnSpc>
                <a:spcPct val="120000"/>
              </a:lnSpc>
              <a:spcAft>
                <a:spcPts val="1400"/>
              </a:spcAft>
              <a:buNone/>
            </a:pPr>
            <a:r>
              <a:rPr lang="en-US" sz="1350" dirty="0">
                <a:solidFill>
                  <a:srgbClr val="707070"/>
                </a:solidFill>
                <a:latin typeface="Yu Gothic" pitchFamily="34" charset="0"/>
                <a:ea typeface="Yu Gothic" pitchFamily="34" charset="-122"/>
                <a:cs typeface="Yu Gothic" pitchFamily="34" charset="-120"/>
              </a:rPr>
              <a:t>Cランク以上で 2.35億</a:t>
            </a:r>
            <a:endParaRPr lang="en-US" sz="2200" dirty="0"/>
          </a:p>
          <a:p>
            <a:pPr indent="0" marL="0">
              <a:spcAft>
                <a:spcPts val="200"/>
              </a:spcAft>
              <a:buNone/>
            </a:pPr>
            <a:r>
              <a:rPr lang="en-US" sz="1050" b="1" dirty="0">
                <a:solidFill>
                  <a:srgbClr val="A8A8A8"/>
                </a:solidFill>
                <a:latin typeface="Yu Gothic" pitchFamily="34" charset="0"/>
                <a:ea typeface="Yu Gothic" pitchFamily="34" charset="-122"/>
                <a:cs typeface="Yu Gothic" pitchFamily="34" charset="-120"/>
              </a:rPr>
              <a:t>実績</a:t>
            </a:r>
            <a:endParaRPr lang="en-US" sz="2200" dirty="0"/>
          </a:p>
          <a:p>
            <a:pPr indent="0" marL="0">
              <a:lnSpc>
                <a:spcPct val="115000"/>
              </a:lnSpc>
              <a:buNone/>
            </a:pPr>
            <a:r>
              <a:rPr lang="en-US" sz="1500" b="1" dirty="0">
                <a:solidFill>
                  <a:srgbClr val="222222"/>
                </a:solidFill>
                <a:latin typeface="Yu Gothic" pitchFamily="34" charset="0"/>
                <a:ea typeface="Yu Gothic" pitchFamily="34" charset="-122"/>
                <a:cs typeface="Yu Gothic" pitchFamily="34" charset="-120"/>
              </a:rPr>
              <a:t>Cランク 3.4億</a:t>
            </a:r>
            <a:endParaRPr lang="en-US" sz="2200" dirty="0"/>
          </a:p>
        </p:txBody>
      </p:sp>
      <p:sp>
        <p:nvSpPr>
          <p:cNvPr id="8" name="Shape 6"/>
          <p:cNvSpPr/>
          <p:nvPr/>
        </p:nvSpPr>
        <p:spPr>
          <a:xfrm>
            <a:off x="1097280" y="4873752"/>
            <a:ext cx="2747162" cy="384048"/>
          </a:xfrm>
          <a:prstGeom prst="rect">
            <a:avLst/>
          </a:prstGeom>
          <a:solidFill>
            <a:srgbClr val="4E8A5C"/>
          </a:solidFill>
          <a:ln/>
        </p:spPr>
      </p:sp>
      <p:sp>
        <p:nvSpPr>
          <p:cNvPr id="9" name="Text 7"/>
          <p:cNvSpPr/>
          <p:nvPr/>
        </p:nvSpPr>
        <p:spPr>
          <a:xfrm>
            <a:off x="1097280" y="4873752"/>
            <a:ext cx="2747162"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Yu Gothic" pitchFamily="34" charset="0"/>
                <a:ea typeface="Yu Gothic" pitchFamily="34" charset="-122"/>
                <a:cs typeface="Yu Gothic" pitchFamily="34" charset="-120"/>
              </a:rPr>
              <a:t>145% 達成</a:t>
            </a:r>
            <a:endParaRPr lang="en-US" sz="1250" dirty="0"/>
          </a:p>
        </p:txBody>
      </p:sp>
      <p:sp>
        <p:nvSpPr>
          <p:cNvPr id="10" name="Shape 8"/>
          <p:cNvSpPr/>
          <p:nvPr/>
        </p:nvSpPr>
        <p:spPr>
          <a:xfrm>
            <a:off x="4466234" y="2331720"/>
            <a:ext cx="3259226" cy="3063240"/>
          </a:xfrm>
          <a:prstGeom prst="rect">
            <a:avLst/>
          </a:prstGeom>
          <a:solidFill>
            <a:srgbClr val="FFFFFF"/>
          </a:solidFill>
          <a:ln w="12700">
            <a:solidFill>
              <a:srgbClr val="E4E1DC"/>
            </a:solidFill>
            <a:prstDash val="solid"/>
          </a:ln>
        </p:spPr>
      </p:sp>
      <p:sp>
        <p:nvSpPr>
          <p:cNvPr id="11" name="Shape 9"/>
          <p:cNvSpPr/>
          <p:nvPr/>
        </p:nvSpPr>
        <p:spPr>
          <a:xfrm>
            <a:off x="4466234" y="2331720"/>
            <a:ext cx="3259226" cy="82296"/>
          </a:xfrm>
          <a:prstGeom prst="rect">
            <a:avLst/>
          </a:prstGeom>
          <a:solidFill>
            <a:srgbClr val="C4962E"/>
          </a:solidFill>
          <a:ln/>
        </p:spPr>
      </p:sp>
      <p:sp>
        <p:nvSpPr>
          <p:cNvPr id="12" name="Text 10"/>
          <p:cNvSpPr/>
          <p:nvPr/>
        </p:nvSpPr>
        <p:spPr>
          <a:xfrm>
            <a:off x="4722266" y="2624328"/>
            <a:ext cx="2747162" cy="2194560"/>
          </a:xfrm>
          <a:prstGeom prst="rect">
            <a:avLst/>
          </a:prstGeom>
          <a:noFill/>
          <a:ln/>
        </p:spPr>
        <p:txBody>
          <a:bodyPr wrap="square" lIns="0" tIns="0" rIns="0" bIns="0" rtlCol="0" anchor="t"/>
          <a:lstStyle/>
          <a:p>
            <a:pPr indent="0" marL="0">
              <a:spcAft>
                <a:spcPts val="800"/>
              </a:spcAft>
              <a:buNone/>
            </a:pPr>
            <a:r>
              <a:rPr lang="en-US" sz="2200" b="1" dirty="0">
                <a:solidFill>
                  <a:srgbClr val="222222"/>
                </a:solidFill>
                <a:latin typeface="Yu Gothic" pitchFamily="34" charset="0"/>
                <a:ea typeface="Yu Gothic" pitchFamily="34" charset="-122"/>
                <a:cs typeface="Yu Gothic" pitchFamily="34" charset="-120"/>
              </a:rPr>
              <a:t>KR2</a:t>
            </a:r>
            <a:endParaRPr lang="en-US" sz="2200" dirty="0"/>
          </a:p>
          <a:p>
            <a:pPr indent="0" marL="0">
              <a:lnSpc>
                <a:spcPct val="120000"/>
              </a:lnSpc>
              <a:spcAft>
                <a:spcPts val="1400"/>
              </a:spcAft>
              <a:buNone/>
            </a:pPr>
            <a:r>
              <a:rPr lang="en-US" sz="1350" dirty="0">
                <a:solidFill>
                  <a:srgbClr val="707070"/>
                </a:solidFill>
                <a:latin typeface="Yu Gothic" pitchFamily="34" charset="0"/>
                <a:ea typeface="Yu Gothic" pitchFamily="34" charset="-122"/>
                <a:cs typeface="Yu Gothic" pitchFamily="34" charset="-120"/>
              </a:rPr>
              <a:t>AIによる</a:t>
            </a:r>
            <a:endParaRPr lang="en-US" sz="2200" dirty="0"/>
          </a:p>
          <a:p>
            <a:pPr indent="0" marL="0">
              <a:lnSpc>
                <a:spcPct val="120000"/>
              </a:lnSpc>
              <a:spcAft>
                <a:spcPts val="1400"/>
              </a:spcAft>
              <a:buNone/>
            </a:pPr>
            <a:r>
              <a:rPr lang="en-US" sz="1350" dirty="0">
                <a:solidFill>
                  <a:srgbClr val="707070"/>
                </a:solidFill>
                <a:latin typeface="Yu Gothic" pitchFamily="34" charset="0"/>
                <a:ea typeface="Yu Gothic" pitchFamily="34" charset="-122"/>
                <a:cs typeface="Yu Gothic" pitchFamily="34" charset="-120"/>
              </a:rPr>
              <a:t>業務改善施策</a:t>
            </a:r>
            <a:endParaRPr lang="en-US" sz="2200" dirty="0"/>
          </a:p>
          <a:p>
            <a:pPr indent="0" marL="0">
              <a:spcAft>
                <a:spcPts val="200"/>
              </a:spcAft>
              <a:buNone/>
            </a:pPr>
            <a:r>
              <a:rPr lang="en-US" sz="1050" b="1" dirty="0">
                <a:solidFill>
                  <a:srgbClr val="A8A8A8"/>
                </a:solidFill>
                <a:latin typeface="Yu Gothic" pitchFamily="34" charset="0"/>
                <a:ea typeface="Yu Gothic" pitchFamily="34" charset="-122"/>
                <a:cs typeface="Yu Gothic" pitchFamily="34" charset="-120"/>
              </a:rPr>
              <a:t>実績</a:t>
            </a:r>
            <a:endParaRPr lang="en-US" sz="2200" dirty="0"/>
          </a:p>
          <a:p>
            <a:pPr indent="0" marL="0">
              <a:lnSpc>
                <a:spcPct val="115000"/>
              </a:lnSpc>
              <a:buNone/>
            </a:pPr>
            <a:r>
              <a:rPr lang="en-US" sz="1500" b="1" dirty="0">
                <a:solidFill>
                  <a:srgbClr val="222222"/>
                </a:solidFill>
                <a:latin typeface="Yu Gothic" pitchFamily="34" charset="0"/>
                <a:ea typeface="Yu Gothic" pitchFamily="34" charset="-122"/>
                <a:cs typeface="Yu Gothic" pitchFamily="34" charset="-120"/>
              </a:rPr>
              <a:t>OS 50% / BIZ 20%</a:t>
            </a:r>
            <a:endParaRPr lang="en-US" sz="2200" dirty="0"/>
          </a:p>
        </p:txBody>
      </p:sp>
      <p:sp>
        <p:nvSpPr>
          <p:cNvPr id="13" name="Shape 11"/>
          <p:cNvSpPr/>
          <p:nvPr/>
        </p:nvSpPr>
        <p:spPr>
          <a:xfrm>
            <a:off x="4722266" y="4873752"/>
            <a:ext cx="2747162" cy="384048"/>
          </a:xfrm>
          <a:prstGeom prst="rect">
            <a:avLst/>
          </a:prstGeom>
          <a:solidFill>
            <a:srgbClr val="C4962E"/>
          </a:solidFill>
          <a:ln/>
        </p:spPr>
      </p:sp>
      <p:sp>
        <p:nvSpPr>
          <p:cNvPr id="14" name="Text 12"/>
          <p:cNvSpPr/>
          <p:nvPr/>
        </p:nvSpPr>
        <p:spPr>
          <a:xfrm>
            <a:off x="4722266" y="4873752"/>
            <a:ext cx="2747162"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Yu Gothic" pitchFamily="34" charset="0"/>
                <a:ea typeface="Yu Gothic" pitchFamily="34" charset="-122"/>
                <a:cs typeface="Yu Gothic" pitchFamily="34" charset="-120"/>
              </a:rPr>
              <a:t>進行中</a:t>
            </a:r>
            <a:endParaRPr lang="en-US" sz="1250" dirty="0"/>
          </a:p>
        </p:txBody>
      </p:sp>
      <p:sp>
        <p:nvSpPr>
          <p:cNvPr id="15" name="Shape 13"/>
          <p:cNvSpPr/>
          <p:nvPr/>
        </p:nvSpPr>
        <p:spPr>
          <a:xfrm>
            <a:off x="8091221" y="2331720"/>
            <a:ext cx="3259226" cy="3063240"/>
          </a:xfrm>
          <a:prstGeom prst="rect">
            <a:avLst/>
          </a:prstGeom>
          <a:solidFill>
            <a:srgbClr val="F7F2EA"/>
          </a:solidFill>
          <a:ln w="12700">
            <a:solidFill>
              <a:srgbClr val="E4E1DC"/>
            </a:solidFill>
            <a:prstDash val="solid"/>
          </a:ln>
        </p:spPr>
      </p:sp>
      <p:sp>
        <p:nvSpPr>
          <p:cNvPr id="16" name="Shape 14"/>
          <p:cNvSpPr/>
          <p:nvPr/>
        </p:nvSpPr>
        <p:spPr>
          <a:xfrm>
            <a:off x="8091221" y="2331720"/>
            <a:ext cx="3259226" cy="82296"/>
          </a:xfrm>
          <a:prstGeom prst="rect">
            <a:avLst/>
          </a:prstGeom>
          <a:solidFill>
            <a:srgbClr val="4E8A5C"/>
          </a:solidFill>
          <a:ln/>
        </p:spPr>
      </p:sp>
      <p:sp>
        <p:nvSpPr>
          <p:cNvPr id="17" name="Text 15"/>
          <p:cNvSpPr/>
          <p:nvPr/>
        </p:nvSpPr>
        <p:spPr>
          <a:xfrm>
            <a:off x="8347253" y="2624328"/>
            <a:ext cx="2747162" cy="2194560"/>
          </a:xfrm>
          <a:prstGeom prst="rect">
            <a:avLst/>
          </a:prstGeom>
          <a:noFill/>
          <a:ln/>
        </p:spPr>
        <p:txBody>
          <a:bodyPr wrap="square" lIns="0" tIns="0" rIns="0" bIns="0" rtlCol="0" anchor="t"/>
          <a:lstStyle/>
          <a:p>
            <a:pPr indent="0" marL="0">
              <a:spcAft>
                <a:spcPts val="800"/>
              </a:spcAft>
              <a:buNone/>
            </a:pPr>
            <a:r>
              <a:rPr lang="en-US" sz="2200" b="1" dirty="0">
                <a:solidFill>
                  <a:srgbClr val="222222"/>
                </a:solidFill>
                <a:latin typeface="Yu Gothic" pitchFamily="34" charset="0"/>
                <a:ea typeface="Yu Gothic" pitchFamily="34" charset="-122"/>
                <a:cs typeface="Yu Gothic" pitchFamily="34" charset="-120"/>
              </a:rPr>
              <a:t>KR3</a:t>
            </a:r>
            <a:endParaRPr lang="en-US" sz="2200" dirty="0"/>
          </a:p>
          <a:p>
            <a:pPr indent="0" marL="0">
              <a:lnSpc>
                <a:spcPct val="120000"/>
              </a:lnSpc>
              <a:spcAft>
                <a:spcPts val="1400"/>
              </a:spcAft>
              <a:buNone/>
            </a:pPr>
            <a:r>
              <a:rPr lang="en-US" sz="1350" dirty="0">
                <a:solidFill>
                  <a:srgbClr val="707070"/>
                </a:solidFill>
                <a:latin typeface="Yu Gothic" pitchFamily="34" charset="0"/>
                <a:ea typeface="Yu Gothic" pitchFamily="34" charset="-122"/>
                <a:cs typeface="Yu Gothic" pitchFamily="34" charset="-120"/>
              </a:rPr>
              <a:t>事業戦略策定 ＆</a:t>
            </a:r>
            <a:endParaRPr lang="en-US" sz="2200" dirty="0"/>
          </a:p>
          <a:p>
            <a:pPr indent="0" marL="0">
              <a:lnSpc>
                <a:spcPct val="120000"/>
              </a:lnSpc>
              <a:spcAft>
                <a:spcPts val="1400"/>
              </a:spcAft>
              <a:buNone/>
            </a:pPr>
            <a:r>
              <a:rPr lang="en-US" sz="1350" dirty="0">
                <a:solidFill>
                  <a:srgbClr val="707070"/>
                </a:solidFill>
                <a:latin typeface="Yu Gothic" pitchFamily="34" charset="0"/>
                <a:ea typeface="Yu Gothic" pitchFamily="34" charset="-122"/>
                <a:cs typeface="Yu Gothic" pitchFamily="34" charset="-120"/>
              </a:rPr>
              <a:t>民主化インパクト指標</a:t>
            </a:r>
            <a:endParaRPr lang="en-US" sz="2200" dirty="0"/>
          </a:p>
          <a:p>
            <a:pPr indent="0" marL="0">
              <a:spcAft>
                <a:spcPts val="200"/>
              </a:spcAft>
              <a:buNone/>
            </a:pPr>
            <a:r>
              <a:rPr lang="en-US" sz="1050" b="1" dirty="0">
                <a:solidFill>
                  <a:srgbClr val="A8A8A8"/>
                </a:solidFill>
                <a:latin typeface="Yu Gothic" pitchFamily="34" charset="0"/>
                <a:ea typeface="Yu Gothic" pitchFamily="34" charset="-122"/>
                <a:cs typeface="Yu Gothic" pitchFamily="34" charset="-120"/>
              </a:rPr>
              <a:t>実績</a:t>
            </a:r>
            <a:endParaRPr lang="en-US" sz="2200" dirty="0"/>
          </a:p>
          <a:p>
            <a:pPr indent="0" marL="0">
              <a:lnSpc>
                <a:spcPct val="115000"/>
              </a:lnSpc>
              <a:buNone/>
            </a:pPr>
            <a:r>
              <a:rPr lang="en-US" sz="1500" b="1" dirty="0">
                <a:solidFill>
                  <a:srgbClr val="222222"/>
                </a:solidFill>
                <a:latin typeface="Yu Gothic" pitchFamily="34" charset="0"/>
                <a:ea typeface="Yu Gothic" pitchFamily="34" charset="-122"/>
                <a:cs typeface="Yu Gothic" pitchFamily="34" charset="-120"/>
              </a:rPr>
              <a:t>事業戦略策定 100%</a:t>
            </a:r>
            <a:endParaRPr lang="en-US" sz="2200" dirty="0"/>
          </a:p>
        </p:txBody>
      </p:sp>
      <p:sp>
        <p:nvSpPr>
          <p:cNvPr id="18" name="Shape 16"/>
          <p:cNvSpPr/>
          <p:nvPr/>
        </p:nvSpPr>
        <p:spPr>
          <a:xfrm>
            <a:off x="8347253" y="4873752"/>
            <a:ext cx="2747162" cy="384048"/>
          </a:xfrm>
          <a:prstGeom prst="rect">
            <a:avLst/>
          </a:prstGeom>
          <a:solidFill>
            <a:srgbClr val="4E8A5C"/>
          </a:solidFill>
          <a:ln/>
        </p:spPr>
      </p:sp>
      <p:sp>
        <p:nvSpPr>
          <p:cNvPr id="19" name="Text 17"/>
          <p:cNvSpPr/>
          <p:nvPr/>
        </p:nvSpPr>
        <p:spPr>
          <a:xfrm>
            <a:off x="8347253" y="4873752"/>
            <a:ext cx="2747162"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Yu Gothic" pitchFamily="34" charset="0"/>
                <a:ea typeface="Yu Gothic" pitchFamily="34" charset="-122"/>
                <a:cs typeface="Yu Gothic" pitchFamily="34" charset="-120"/>
              </a:rPr>
              <a:t>達成</a:t>
            </a:r>
            <a:endParaRPr lang="en-US" sz="1250" dirty="0"/>
          </a:p>
        </p:txBody>
      </p:sp>
      <p:sp>
        <p:nvSpPr>
          <p:cNvPr id="20" name="Text 18"/>
          <p:cNvSpPr/>
          <p:nvPr/>
        </p:nvSpPr>
        <p:spPr>
          <a:xfrm>
            <a:off x="841248" y="6400800"/>
            <a:ext cx="7315200" cy="274320"/>
          </a:xfrm>
          <a:prstGeom prst="rect">
            <a:avLst/>
          </a:prstGeom>
          <a:noFill/>
          <a:ln/>
        </p:spPr>
        <p:txBody>
          <a:bodyPr wrap="square" lIns="0" tIns="0" rIns="0" bIns="0" rtlCol="0" anchor="t"/>
          <a:lstStyle/>
          <a:p>
            <a:pPr indent="0" marL="0">
              <a:buNone/>
            </a:pPr>
            <a:r>
              <a:rPr lang="en-US" sz="900" dirty="0">
                <a:solidFill>
                  <a:srgbClr val="A8A8A8"/>
                </a:solidFill>
                <a:latin typeface="Yu Gothic" pitchFamily="34" charset="0"/>
                <a:ea typeface="Yu Gothic" pitchFamily="34" charset="-122"/>
                <a:cs typeface="Yu Gothic" pitchFamily="34" charset="-120"/>
              </a:rPr>
              <a:t>Incubation Team OKR ・ リーダー定例 2026-06-28</a:t>
            </a:r>
            <a:endParaRPr lang="en-US" sz="900" dirty="0"/>
          </a:p>
        </p:txBody>
      </p:sp>
      <p:sp>
        <p:nvSpPr>
          <p:cNvPr id="21" name="Text 19"/>
          <p:cNvSpPr/>
          <p:nvPr/>
        </p:nvSpPr>
        <p:spPr>
          <a:xfrm>
            <a:off x="10436047" y="6400800"/>
            <a:ext cx="914400" cy="274320"/>
          </a:xfrm>
          <a:prstGeom prst="rect">
            <a:avLst/>
          </a:prstGeom>
          <a:noFill/>
          <a:ln/>
        </p:spPr>
        <p:txBody>
          <a:bodyPr wrap="square" lIns="0" tIns="0" rIns="0" bIns="0" rtlCol="0" anchor="t"/>
          <a:lstStyle/>
          <a:p>
            <a:pPr algn="r" indent="0" marL="0">
              <a:buNone/>
            </a:pPr>
            <a:r>
              <a:rPr lang="en-US" sz="900" dirty="0">
                <a:solidFill>
                  <a:srgbClr val="A8A8A8"/>
                </a:solidFill>
                <a:latin typeface="Yu Gothic" pitchFamily="34" charset="0"/>
                <a:ea typeface="Yu Gothic" pitchFamily="34" charset="-122"/>
                <a:cs typeface="Yu Gothic"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CFA"/>
        </a:solidFill>
      </p:bgPr>
    </p:bg>
    <p:spTree>
      <p:nvGrpSpPr>
        <p:cNvPr id="1" name=""/>
        <p:cNvGrpSpPr/>
        <p:nvPr/>
      </p:nvGrpSpPr>
      <p:grpSpPr>
        <a:xfrm>
          <a:off x="0" y="0"/>
          <a:ext cx="0" cy="0"/>
          <a:chOff x="0" y="0"/>
          <a:chExt cx="0" cy="0"/>
        </a:xfrm>
      </p:grpSpPr>
      <p:sp>
        <p:nvSpPr>
          <p:cNvPr id="2" name="Shape 0"/>
          <p:cNvSpPr/>
          <p:nvPr/>
        </p:nvSpPr>
        <p:spPr>
          <a:xfrm>
            <a:off x="841248" y="566928"/>
            <a:ext cx="384048" cy="77724"/>
          </a:xfrm>
          <a:prstGeom prst="rect">
            <a:avLst/>
          </a:prstGeom>
          <a:solidFill>
            <a:srgbClr val="B8772E"/>
          </a:solidFill>
          <a:ln/>
        </p:spPr>
      </p:sp>
      <p:sp>
        <p:nvSpPr>
          <p:cNvPr id="3" name="Text 1"/>
          <p:cNvSpPr/>
          <p:nvPr/>
        </p:nvSpPr>
        <p:spPr>
          <a:xfrm>
            <a:off x="841248" y="731520"/>
            <a:ext cx="10509199" cy="365760"/>
          </a:xfrm>
          <a:prstGeom prst="rect">
            <a:avLst/>
          </a:prstGeom>
          <a:noFill/>
          <a:ln/>
        </p:spPr>
        <p:txBody>
          <a:bodyPr wrap="square" lIns="0" tIns="0" rIns="0" bIns="0" rtlCol="0" anchor="t"/>
          <a:lstStyle/>
          <a:p>
            <a:pPr indent="0" marL="0">
              <a:buNone/>
            </a:pPr>
            <a:r>
              <a:rPr lang="en-US" sz="1350" b="1" dirty="0">
                <a:solidFill>
                  <a:srgbClr val="B8772E"/>
                </a:solidFill>
                <a:latin typeface="Yu Gothic" pitchFamily="34" charset="0"/>
                <a:ea typeface="Yu Gothic" pitchFamily="34" charset="-122"/>
                <a:cs typeface="Yu Gothic" pitchFamily="34" charset="-120"/>
              </a:rPr>
              <a:t>Q3 ｜ KR1</a:t>
            </a:r>
            <a:endParaRPr lang="en-US" sz="1350" dirty="0"/>
          </a:p>
        </p:txBody>
      </p:sp>
      <p:sp>
        <p:nvSpPr>
          <p:cNvPr id="4" name="Text 2"/>
          <p:cNvSpPr/>
          <p:nvPr/>
        </p:nvSpPr>
        <p:spPr>
          <a:xfrm>
            <a:off x="841248" y="1078992"/>
            <a:ext cx="10509199" cy="868680"/>
          </a:xfrm>
          <a:prstGeom prst="rect">
            <a:avLst/>
          </a:prstGeom>
          <a:noFill/>
          <a:ln/>
        </p:spPr>
        <p:txBody>
          <a:bodyPr wrap="square" lIns="0" tIns="0" rIns="0" bIns="0" rtlCol="0" anchor="t"/>
          <a:lstStyle/>
          <a:p>
            <a:pPr indent="0" marL="0">
              <a:lnSpc>
                <a:spcPct val="105000"/>
              </a:lnSpc>
              <a:buNone/>
            </a:pPr>
            <a:r>
              <a:rPr lang="en-US" sz="3000" b="1" dirty="0">
                <a:solidFill>
                  <a:srgbClr val="222222"/>
                </a:solidFill>
                <a:latin typeface="Yu Gothic" pitchFamily="34" charset="0"/>
                <a:ea typeface="Yu Gothic" pitchFamily="34" charset="-122"/>
                <a:cs typeface="Yu Gothic" pitchFamily="34" charset="-120"/>
              </a:rPr>
              <a:t>パイプライン増　145% 達成</a:t>
            </a:r>
            <a:endParaRPr lang="en-US" sz="3000" dirty="0"/>
          </a:p>
        </p:txBody>
      </p:sp>
      <p:sp>
        <p:nvSpPr>
          <p:cNvPr id="5" name="Shape 3"/>
          <p:cNvSpPr/>
          <p:nvPr/>
        </p:nvSpPr>
        <p:spPr>
          <a:xfrm>
            <a:off x="841248" y="2240280"/>
            <a:ext cx="4023360" cy="3017520"/>
          </a:xfrm>
          <a:prstGeom prst="rect">
            <a:avLst/>
          </a:prstGeom>
          <a:solidFill>
            <a:srgbClr val="F7F2EA"/>
          </a:solidFill>
          <a:ln w="12700">
            <a:solidFill>
              <a:srgbClr val="E4E1DC"/>
            </a:solidFill>
            <a:prstDash val="solid"/>
          </a:ln>
        </p:spPr>
      </p:sp>
      <p:sp>
        <p:nvSpPr>
          <p:cNvPr id="6" name="Text 4"/>
          <p:cNvSpPr/>
          <p:nvPr/>
        </p:nvSpPr>
        <p:spPr>
          <a:xfrm>
            <a:off x="1207008" y="2651760"/>
            <a:ext cx="3291840" cy="2194560"/>
          </a:xfrm>
          <a:prstGeom prst="rect">
            <a:avLst/>
          </a:prstGeom>
          <a:noFill/>
          <a:ln/>
        </p:spPr>
        <p:txBody>
          <a:bodyPr wrap="square" lIns="0" tIns="0" rIns="0" bIns="0" rtlCol="0" anchor="t"/>
          <a:lstStyle/>
          <a:p>
            <a:pPr indent="0" marL="0">
              <a:spcAft>
                <a:spcPts val="1400"/>
              </a:spcAft>
              <a:buNone/>
            </a:pPr>
            <a:r>
              <a:rPr lang="en-US" sz="1300" dirty="0">
                <a:solidFill>
                  <a:srgbClr val="707070"/>
                </a:solidFill>
                <a:latin typeface="Yu Gothic" pitchFamily="34" charset="0"/>
                <a:ea typeface="Yu Gothic" pitchFamily="34" charset="-122"/>
                <a:cs typeface="Yu Gothic" pitchFamily="34" charset="-120"/>
              </a:rPr>
              <a:t>目標 Cランク以上 2.35億</a:t>
            </a:r>
            <a:endParaRPr lang="en-US" sz="1300" dirty="0"/>
          </a:p>
          <a:p>
            <a:pPr indent="0" marL="0">
              <a:buNone/>
            </a:pPr>
            <a:r>
              <a:rPr lang="en-US" sz="5600" b="1" dirty="0">
                <a:solidFill>
                  <a:srgbClr val="B8772E"/>
                </a:solidFill>
                <a:latin typeface="Yu Gothic" pitchFamily="34" charset="0"/>
                <a:ea typeface="Yu Gothic" pitchFamily="34" charset="-122"/>
                <a:cs typeface="Yu Gothic" pitchFamily="34" charset="-120"/>
              </a:rPr>
              <a:t>3.4億</a:t>
            </a:r>
            <a:endParaRPr lang="en-US" sz="1300" dirty="0"/>
          </a:p>
          <a:p>
            <a:pPr indent="0" marL="0">
              <a:buNone/>
            </a:pPr>
            <a:r>
              <a:rPr lang="en-US" sz="1400" b="1" dirty="0">
                <a:solidFill>
                  <a:srgbClr val="222222"/>
                </a:solidFill>
                <a:latin typeface="Yu Gothic" pitchFamily="34" charset="0"/>
                <a:ea typeface="Yu Gothic" pitchFamily="34" charset="-122"/>
                <a:cs typeface="Yu Gothic" pitchFamily="34" charset="-120"/>
              </a:rPr>
              <a:t>Cランク実績　＝　145% 達成</a:t>
            </a:r>
            <a:endParaRPr lang="en-US" sz="1300" dirty="0"/>
          </a:p>
        </p:txBody>
      </p:sp>
      <p:sp>
        <p:nvSpPr>
          <p:cNvPr id="7" name="Text 5"/>
          <p:cNvSpPr/>
          <p:nvPr/>
        </p:nvSpPr>
        <p:spPr>
          <a:xfrm>
            <a:off x="5413248" y="2423160"/>
            <a:ext cx="5937199" cy="2743200"/>
          </a:xfrm>
          <a:prstGeom prst="rect">
            <a:avLst/>
          </a:prstGeom>
          <a:noFill/>
          <a:ln/>
        </p:spPr>
        <p:txBody>
          <a:bodyPr wrap="square" lIns="0" tIns="0" rIns="0" bIns="0" rtlCol="0" anchor="t"/>
          <a:lstStyle/>
          <a:p>
            <a:pPr indent="0" marL="0">
              <a:spcAft>
                <a:spcPts val="1000"/>
              </a:spcAft>
              <a:buNone/>
            </a:pPr>
            <a:r>
              <a:rPr lang="en-US" sz="1400" b="1" dirty="0">
                <a:solidFill>
                  <a:srgbClr val="B8772E"/>
                </a:solidFill>
                <a:latin typeface="Yu Gothic" pitchFamily="34" charset="0"/>
                <a:ea typeface="Yu Gothic" pitchFamily="34" charset="-122"/>
                <a:cs typeface="Yu Gothic" pitchFamily="34" charset="-120"/>
              </a:rPr>
              <a:t>レビュー</a:t>
            </a:r>
            <a:endParaRPr lang="en-US" sz="1400" dirty="0"/>
          </a:p>
          <a:p>
            <a:pPr indent="0" marL="0">
              <a:lnSpc>
                <a:spcPct val="130000"/>
              </a:lnSpc>
              <a:spcAft>
                <a:spcPts val="1000"/>
              </a:spcAft>
              <a:buNone/>
            </a:pPr>
            <a:r>
              <a:rPr lang="en-US" sz="1600" dirty="0">
                <a:solidFill>
                  <a:srgbClr val="222222"/>
                </a:solidFill>
                <a:latin typeface="Yu Gothic" pitchFamily="34" charset="0"/>
                <a:ea typeface="Yu Gothic" pitchFamily="34" charset="-122"/>
                <a:cs typeface="Yu Gothic" pitchFamily="34" charset="-120"/>
              </a:rPr>
              <a:t>・ 目標 2.35億 を大きく上回り達成。</a:t>
            </a:r>
            <a:endParaRPr lang="en-US" sz="1400" dirty="0"/>
          </a:p>
          <a:p>
            <a:pPr indent="0" marL="0">
              <a:lnSpc>
                <a:spcPct val="130000"/>
              </a:lnSpc>
              <a:buNone/>
            </a:pPr>
            <a:r>
              <a:rPr lang="en-US" sz="1600" dirty="0">
                <a:solidFill>
                  <a:srgbClr val="222222"/>
                </a:solidFill>
                <a:latin typeface="Yu Gothic" pitchFamily="34" charset="0"/>
                <a:ea typeface="Yu Gothic" pitchFamily="34" charset="-122"/>
                <a:cs typeface="Yu Gothic" pitchFamily="34" charset="-120"/>
              </a:rPr>
              <a:t>・ 補助金案件が新たに入ってきたことが寄与。</a:t>
            </a:r>
            <a:endParaRPr lang="en-US" sz="1400" dirty="0"/>
          </a:p>
        </p:txBody>
      </p:sp>
      <p:sp>
        <p:nvSpPr>
          <p:cNvPr id="8" name="Text 6"/>
          <p:cNvSpPr/>
          <p:nvPr/>
        </p:nvSpPr>
        <p:spPr>
          <a:xfrm>
            <a:off x="841248" y="6400800"/>
            <a:ext cx="7315200" cy="274320"/>
          </a:xfrm>
          <a:prstGeom prst="rect">
            <a:avLst/>
          </a:prstGeom>
          <a:noFill/>
          <a:ln/>
        </p:spPr>
        <p:txBody>
          <a:bodyPr wrap="square" lIns="0" tIns="0" rIns="0" bIns="0" rtlCol="0" anchor="t"/>
          <a:lstStyle/>
          <a:p>
            <a:pPr indent="0" marL="0">
              <a:buNone/>
            </a:pPr>
            <a:r>
              <a:rPr lang="en-US" sz="900" dirty="0">
                <a:solidFill>
                  <a:srgbClr val="A8A8A8"/>
                </a:solidFill>
                <a:latin typeface="Yu Gothic" pitchFamily="34" charset="0"/>
                <a:ea typeface="Yu Gothic" pitchFamily="34" charset="-122"/>
                <a:cs typeface="Yu Gothic" pitchFamily="34" charset="-120"/>
              </a:rPr>
              <a:t>Incubation Team OKR ・ リーダー定例 2026-06-28</a:t>
            </a:r>
            <a:endParaRPr lang="en-US" sz="900" dirty="0"/>
          </a:p>
        </p:txBody>
      </p:sp>
      <p:sp>
        <p:nvSpPr>
          <p:cNvPr id="9" name="Text 7"/>
          <p:cNvSpPr/>
          <p:nvPr/>
        </p:nvSpPr>
        <p:spPr>
          <a:xfrm>
            <a:off x="10436047" y="6400800"/>
            <a:ext cx="914400" cy="274320"/>
          </a:xfrm>
          <a:prstGeom prst="rect">
            <a:avLst/>
          </a:prstGeom>
          <a:noFill/>
          <a:ln/>
        </p:spPr>
        <p:txBody>
          <a:bodyPr wrap="square" lIns="0" tIns="0" rIns="0" bIns="0" rtlCol="0" anchor="t"/>
          <a:lstStyle/>
          <a:p>
            <a:pPr algn="r" indent="0" marL="0">
              <a:buNone/>
            </a:pPr>
            <a:r>
              <a:rPr lang="en-US" sz="900" dirty="0">
                <a:solidFill>
                  <a:srgbClr val="A8A8A8"/>
                </a:solidFill>
                <a:latin typeface="Yu Gothic" pitchFamily="34" charset="0"/>
                <a:ea typeface="Yu Gothic" pitchFamily="34" charset="-122"/>
                <a:cs typeface="Yu Gothic"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DFCFA"/>
        </a:solidFill>
      </p:bgPr>
    </p:bg>
    <p:spTree>
      <p:nvGrpSpPr>
        <p:cNvPr id="1" name=""/>
        <p:cNvGrpSpPr/>
        <p:nvPr/>
      </p:nvGrpSpPr>
      <p:grpSpPr>
        <a:xfrm>
          <a:off x="0" y="0"/>
          <a:ext cx="0" cy="0"/>
          <a:chOff x="0" y="0"/>
          <a:chExt cx="0" cy="0"/>
        </a:xfrm>
      </p:grpSpPr>
      <p:sp>
        <p:nvSpPr>
          <p:cNvPr id="2" name="Shape 0"/>
          <p:cNvSpPr/>
          <p:nvPr/>
        </p:nvSpPr>
        <p:spPr>
          <a:xfrm>
            <a:off x="841248" y="566928"/>
            <a:ext cx="384048" cy="77724"/>
          </a:xfrm>
          <a:prstGeom prst="rect">
            <a:avLst/>
          </a:prstGeom>
          <a:solidFill>
            <a:srgbClr val="B8772E"/>
          </a:solidFill>
          <a:ln/>
        </p:spPr>
      </p:sp>
      <p:sp>
        <p:nvSpPr>
          <p:cNvPr id="3" name="Text 1"/>
          <p:cNvSpPr/>
          <p:nvPr/>
        </p:nvSpPr>
        <p:spPr>
          <a:xfrm>
            <a:off x="841248" y="731520"/>
            <a:ext cx="10509199" cy="365760"/>
          </a:xfrm>
          <a:prstGeom prst="rect">
            <a:avLst/>
          </a:prstGeom>
          <a:noFill/>
          <a:ln/>
        </p:spPr>
        <p:txBody>
          <a:bodyPr wrap="square" lIns="0" tIns="0" rIns="0" bIns="0" rtlCol="0" anchor="t"/>
          <a:lstStyle/>
          <a:p>
            <a:pPr indent="0" marL="0">
              <a:buNone/>
            </a:pPr>
            <a:r>
              <a:rPr lang="en-US" sz="1350" b="1" dirty="0">
                <a:solidFill>
                  <a:srgbClr val="B8772E"/>
                </a:solidFill>
                <a:latin typeface="Yu Gothic" pitchFamily="34" charset="0"/>
                <a:ea typeface="Yu Gothic" pitchFamily="34" charset="-122"/>
                <a:cs typeface="Yu Gothic" pitchFamily="34" charset="-120"/>
              </a:rPr>
              <a:t>Q3 ｜ KR2</a:t>
            </a:r>
            <a:endParaRPr lang="en-US" sz="1350" dirty="0"/>
          </a:p>
        </p:txBody>
      </p:sp>
      <p:sp>
        <p:nvSpPr>
          <p:cNvPr id="4" name="Text 2"/>
          <p:cNvSpPr/>
          <p:nvPr/>
        </p:nvSpPr>
        <p:spPr>
          <a:xfrm>
            <a:off x="841248" y="1078992"/>
            <a:ext cx="10509199" cy="868680"/>
          </a:xfrm>
          <a:prstGeom prst="rect">
            <a:avLst/>
          </a:prstGeom>
          <a:noFill/>
          <a:ln/>
        </p:spPr>
        <p:txBody>
          <a:bodyPr wrap="square" lIns="0" tIns="0" rIns="0" bIns="0" rtlCol="0" anchor="t"/>
          <a:lstStyle/>
          <a:p>
            <a:pPr indent="0" marL="0">
              <a:lnSpc>
                <a:spcPct val="105000"/>
              </a:lnSpc>
              <a:buNone/>
            </a:pPr>
            <a:r>
              <a:rPr lang="en-US" sz="2900" b="1" dirty="0">
                <a:solidFill>
                  <a:srgbClr val="222222"/>
                </a:solidFill>
                <a:latin typeface="Yu Gothic" pitchFamily="34" charset="0"/>
                <a:ea typeface="Yu Gothic" pitchFamily="34" charset="-122"/>
                <a:cs typeface="Yu Gothic" pitchFamily="34" charset="-120"/>
              </a:rPr>
              <a:t>AIによる業務改善施策　＜進行中＞</a:t>
            </a:r>
            <a:endParaRPr lang="en-US" sz="2900" dirty="0"/>
          </a:p>
        </p:txBody>
      </p:sp>
      <p:sp>
        <p:nvSpPr>
          <p:cNvPr id="5" name="Shape 3"/>
          <p:cNvSpPr/>
          <p:nvPr/>
        </p:nvSpPr>
        <p:spPr>
          <a:xfrm>
            <a:off x="841248" y="2286000"/>
            <a:ext cx="5026000" cy="3108960"/>
          </a:xfrm>
          <a:prstGeom prst="rect">
            <a:avLst/>
          </a:prstGeom>
          <a:solidFill>
            <a:srgbClr val="FFFFFF"/>
          </a:solidFill>
          <a:ln w="12700">
            <a:solidFill>
              <a:srgbClr val="E4E1DC"/>
            </a:solidFill>
            <a:prstDash val="solid"/>
          </a:ln>
        </p:spPr>
      </p:sp>
      <p:sp>
        <p:nvSpPr>
          <p:cNvPr id="6" name="Shape 4"/>
          <p:cNvSpPr/>
          <p:nvPr/>
        </p:nvSpPr>
        <p:spPr>
          <a:xfrm>
            <a:off x="841248" y="2286000"/>
            <a:ext cx="73152" cy="3108960"/>
          </a:xfrm>
          <a:prstGeom prst="rect">
            <a:avLst/>
          </a:prstGeom>
          <a:solidFill>
            <a:srgbClr val="C4962E"/>
          </a:solidFill>
          <a:ln/>
        </p:spPr>
      </p:sp>
      <p:sp>
        <p:nvSpPr>
          <p:cNvPr id="7" name="Text 5"/>
          <p:cNvSpPr/>
          <p:nvPr/>
        </p:nvSpPr>
        <p:spPr>
          <a:xfrm>
            <a:off x="1152144" y="2542032"/>
            <a:ext cx="4477360" cy="411480"/>
          </a:xfrm>
          <a:prstGeom prst="rect">
            <a:avLst/>
          </a:prstGeom>
          <a:noFill/>
          <a:ln/>
        </p:spPr>
        <p:txBody>
          <a:bodyPr wrap="square" lIns="0" tIns="0" rIns="0" bIns="0" rtlCol="0" anchor="t"/>
          <a:lstStyle/>
          <a:p>
            <a:pPr indent="0" marL="0">
              <a:buNone/>
            </a:pPr>
            <a:r>
              <a:rPr lang="en-US" sz="1700" b="1" dirty="0">
                <a:solidFill>
                  <a:srgbClr val="222222"/>
                </a:solidFill>
                <a:latin typeface="Yu Gothic" pitchFamily="34" charset="0"/>
                <a:ea typeface="Yu Gothic" pitchFamily="34" charset="-122"/>
                <a:cs typeface="Yu Gothic" pitchFamily="34" charset="-120"/>
              </a:rPr>
              <a:t>OS　</a:t>
            </a:r>
            <a:pPr indent="0" marL="0">
              <a:buNone/>
            </a:pPr>
            <a:r>
              <a:rPr lang="en-US" sz="1700" b="1" dirty="0">
                <a:solidFill>
                  <a:srgbClr val="C4962E"/>
                </a:solidFill>
                <a:latin typeface="Yu Gothic" pitchFamily="34" charset="0"/>
                <a:ea typeface="Yu Gothic" pitchFamily="34" charset="-122"/>
                <a:cs typeface="Yu Gothic" pitchFamily="34" charset="-120"/>
              </a:rPr>
              <a:t>50%</a:t>
            </a:r>
            <a:endParaRPr lang="en-US" sz="1700" dirty="0"/>
          </a:p>
        </p:txBody>
      </p:sp>
      <p:sp>
        <p:nvSpPr>
          <p:cNvPr id="8" name="Text 6"/>
          <p:cNvSpPr/>
          <p:nvPr/>
        </p:nvSpPr>
        <p:spPr>
          <a:xfrm>
            <a:off x="1152144" y="3035808"/>
            <a:ext cx="4422496" cy="2240280"/>
          </a:xfrm>
          <a:prstGeom prst="rect">
            <a:avLst/>
          </a:prstGeom>
          <a:noFill/>
          <a:ln/>
        </p:spPr>
        <p:txBody>
          <a:bodyPr wrap="square" lIns="0" tIns="0" rIns="0" bIns="0" rtlCol="0" anchor="t"/>
          <a:lstStyle/>
          <a:p>
            <a:pPr indent="0" marL="0">
              <a:lnSpc>
                <a:spcPct val="128000"/>
              </a:lnSpc>
              <a:spcAft>
                <a:spcPts val="700"/>
              </a:spcAft>
              <a:buNone/>
            </a:pPr>
            <a:r>
              <a:rPr lang="en-US" sz="1300" dirty="0">
                <a:solidFill>
                  <a:srgbClr val="222222"/>
                </a:solidFill>
                <a:latin typeface="Yu Gothic" pitchFamily="34" charset="0"/>
                <a:ea typeface="Yu Gothic" pitchFamily="34" charset="-122"/>
                <a:cs typeface="Yu Gothic" pitchFamily="34" charset="-120"/>
              </a:rPr>
              <a:t>・ サポートのボットを作成、運用中</a:t>
            </a:r>
            <a:endParaRPr lang="en-US" sz="1300" dirty="0"/>
          </a:p>
          <a:p>
            <a:pPr indent="0" marL="0">
              <a:lnSpc>
                <a:spcPct val="128000"/>
              </a:lnSpc>
              <a:spcAft>
                <a:spcPts val="700"/>
              </a:spcAft>
              <a:buNone/>
            </a:pPr>
            <a:r>
              <a:rPr lang="en-US" sz="1300" b="1" dirty="0">
                <a:solidFill>
                  <a:srgbClr val="B8772E"/>
                </a:solidFill>
                <a:latin typeface="Yu Gothic" pitchFamily="34" charset="0"/>
                <a:ea typeface="Yu Gothic" pitchFamily="34" charset="-122"/>
                <a:cs typeface="Yu Gothic" pitchFamily="34" charset="-120"/>
              </a:rPr>
              <a:t>△ 課題：情報の精度が悪い → 改善したい</a:t>
            </a:r>
            <a:endParaRPr lang="en-US" sz="1300" dirty="0"/>
          </a:p>
        </p:txBody>
      </p:sp>
      <p:sp>
        <p:nvSpPr>
          <p:cNvPr id="9" name="Shape 7"/>
          <p:cNvSpPr/>
          <p:nvPr/>
        </p:nvSpPr>
        <p:spPr>
          <a:xfrm>
            <a:off x="6324448" y="2286000"/>
            <a:ext cx="5026000" cy="3108960"/>
          </a:xfrm>
          <a:prstGeom prst="rect">
            <a:avLst/>
          </a:prstGeom>
          <a:solidFill>
            <a:srgbClr val="FFFFFF"/>
          </a:solidFill>
          <a:ln w="12700">
            <a:solidFill>
              <a:srgbClr val="E4E1DC"/>
            </a:solidFill>
            <a:prstDash val="solid"/>
          </a:ln>
        </p:spPr>
      </p:sp>
      <p:sp>
        <p:nvSpPr>
          <p:cNvPr id="10" name="Shape 8"/>
          <p:cNvSpPr/>
          <p:nvPr/>
        </p:nvSpPr>
        <p:spPr>
          <a:xfrm>
            <a:off x="6324448" y="2286000"/>
            <a:ext cx="73152" cy="3108960"/>
          </a:xfrm>
          <a:prstGeom prst="rect">
            <a:avLst/>
          </a:prstGeom>
          <a:solidFill>
            <a:srgbClr val="C4962E"/>
          </a:solidFill>
          <a:ln/>
        </p:spPr>
      </p:sp>
      <p:sp>
        <p:nvSpPr>
          <p:cNvPr id="11" name="Text 9"/>
          <p:cNvSpPr/>
          <p:nvPr/>
        </p:nvSpPr>
        <p:spPr>
          <a:xfrm>
            <a:off x="6635344" y="2542032"/>
            <a:ext cx="4477360" cy="411480"/>
          </a:xfrm>
          <a:prstGeom prst="rect">
            <a:avLst/>
          </a:prstGeom>
          <a:noFill/>
          <a:ln/>
        </p:spPr>
        <p:txBody>
          <a:bodyPr wrap="square" lIns="0" tIns="0" rIns="0" bIns="0" rtlCol="0" anchor="t"/>
          <a:lstStyle/>
          <a:p>
            <a:pPr indent="0" marL="0">
              <a:buNone/>
            </a:pPr>
            <a:r>
              <a:rPr lang="en-US" sz="1700" b="1" dirty="0">
                <a:solidFill>
                  <a:srgbClr val="222222"/>
                </a:solidFill>
                <a:latin typeface="Yu Gothic" pitchFamily="34" charset="0"/>
                <a:ea typeface="Yu Gothic" pitchFamily="34" charset="-122"/>
                <a:cs typeface="Yu Gothic" pitchFamily="34" charset="-120"/>
              </a:rPr>
              <a:t>BIZ　</a:t>
            </a:r>
            <a:pPr indent="0" marL="0">
              <a:buNone/>
            </a:pPr>
            <a:r>
              <a:rPr lang="en-US" sz="1700" b="1" dirty="0">
                <a:solidFill>
                  <a:srgbClr val="C4962E"/>
                </a:solidFill>
                <a:latin typeface="Yu Gothic" pitchFamily="34" charset="0"/>
                <a:ea typeface="Yu Gothic" pitchFamily="34" charset="-122"/>
                <a:cs typeface="Yu Gothic" pitchFamily="34" charset="-120"/>
              </a:rPr>
              <a:t>20%</a:t>
            </a:r>
            <a:endParaRPr lang="en-US" sz="1700" dirty="0"/>
          </a:p>
        </p:txBody>
      </p:sp>
      <p:sp>
        <p:nvSpPr>
          <p:cNvPr id="12" name="Text 10"/>
          <p:cNvSpPr/>
          <p:nvPr/>
        </p:nvSpPr>
        <p:spPr>
          <a:xfrm>
            <a:off x="6635344" y="3035808"/>
            <a:ext cx="4422496" cy="2240280"/>
          </a:xfrm>
          <a:prstGeom prst="rect">
            <a:avLst/>
          </a:prstGeom>
          <a:noFill/>
          <a:ln/>
        </p:spPr>
        <p:txBody>
          <a:bodyPr wrap="square" lIns="0" tIns="0" rIns="0" bIns="0" rtlCol="0" anchor="t"/>
          <a:lstStyle/>
          <a:p>
            <a:pPr indent="0" marL="0">
              <a:lnSpc>
                <a:spcPct val="128000"/>
              </a:lnSpc>
              <a:spcAft>
                <a:spcPts val="700"/>
              </a:spcAft>
              <a:buNone/>
            </a:pPr>
            <a:r>
              <a:rPr lang="en-US" sz="1300" dirty="0">
                <a:solidFill>
                  <a:srgbClr val="222222"/>
                </a:solidFill>
                <a:latin typeface="Yu Gothic" pitchFamily="34" charset="0"/>
                <a:ea typeface="Yu Gothic" pitchFamily="34" charset="-122"/>
                <a:cs typeface="Yu Gothic" pitchFamily="34" charset="-120"/>
              </a:rPr>
              <a:t>・ Claudeで事例収集→リテンションを試行中</a:t>
            </a:r>
            <a:endParaRPr lang="en-US" sz="1300" dirty="0"/>
          </a:p>
          <a:p>
            <a:pPr indent="0" marL="0">
              <a:lnSpc>
                <a:spcPct val="128000"/>
              </a:lnSpc>
              <a:spcAft>
                <a:spcPts val="700"/>
              </a:spcAft>
              <a:buNone/>
            </a:pPr>
            <a:r>
              <a:rPr lang="en-US" sz="1300" dirty="0">
                <a:solidFill>
                  <a:srgbClr val="222222"/>
                </a:solidFill>
                <a:latin typeface="Yu Gothic" pitchFamily="34" charset="0"/>
                <a:ea typeface="Yu Gothic" pitchFamily="34" charset="-122"/>
                <a:cs typeface="Yu Gothic" pitchFamily="34" charset="-120"/>
              </a:rPr>
              <a:t>・ VUILD事例は豊富だが、リアルなオーナー事例が必要</a:t>
            </a:r>
            <a:endParaRPr lang="en-US" sz="1300" dirty="0"/>
          </a:p>
          <a:p>
            <a:pPr indent="0" marL="0">
              <a:lnSpc>
                <a:spcPct val="128000"/>
              </a:lnSpc>
              <a:spcAft>
                <a:spcPts val="700"/>
              </a:spcAft>
              <a:buNone/>
            </a:pPr>
            <a:r>
              <a:rPr lang="en-US" sz="1300" b="1" dirty="0">
                <a:solidFill>
                  <a:srgbClr val="B8772E"/>
                </a:solidFill>
                <a:latin typeface="Yu Gothic" pitchFamily="34" charset="0"/>
                <a:ea typeface="Yu Gothic" pitchFamily="34" charset="-122"/>
                <a:cs typeface="Yu Gothic" pitchFamily="34" charset="-120"/>
              </a:rPr>
              <a:t>△ 課題：事例集め（行脚・SNS）と保存場所・フォーマット・ルール</a:t>
            </a:r>
            <a:endParaRPr lang="en-US" sz="1300" dirty="0"/>
          </a:p>
          <a:p>
            <a:pPr indent="0" marL="0">
              <a:lnSpc>
                <a:spcPct val="128000"/>
              </a:lnSpc>
              <a:spcAft>
                <a:spcPts val="700"/>
              </a:spcAft>
              <a:buNone/>
            </a:pPr>
            <a:r>
              <a:rPr lang="en-US" sz="1300" dirty="0">
                <a:solidFill>
                  <a:srgbClr val="222222"/>
                </a:solidFill>
                <a:latin typeface="Yu Gothic" pitchFamily="34" charset="0"/>
                <a:ea typeface="Yu Gothic" pitchFamily="34" charset="-122"/>
                <a:cs typeface="Yu Gothic" pitchFamily="34" charset="-120"/>
              </a:rPr>
              <a:t>・ オーナー事例はClaudeで集めにくい（最初の雛形集めは戸倉）</a:t>
            </a:r>
            <a:endParaRPr lang="en-US" sz="1300" dirty="0"/>
          </a:p>
        </p:txBody>
      </p:sp>
      <p:sp>
        <p:nvSpPr>
          <p:cNvPr id="13" name="Text 11"/>
          <p:cNvSpPr/>
          <p:nvPr/>
        </p:nvSpPr>
        <p:spPr>
          <a:xfrm>
            <a:off x="841248" y="6400800"/>
            <a:ext cx="7315200" cy="274320"/>
          </a:xfrm>
          <a:prstGeom prst="rect">
            <a:avLst/>
          </a:prstGeom>
          <a:noFill/>
          <a:ln/>
        </p:spPr>
        <p:txBody>
          <a:bodyPr wrap="square" lIns="0" tIns="0" rIns="0" bIns="0" rtlCol="0" anchor="t"/>
          <a:lstStyle/>
          <a:p>
            <a:pPr indent="0" marL="0">
              <a:buNone/>
            </a:pPr>
            <a:r>
              <a:rPr lang="en-US" sz="900" dirty="0">
                <a:solidFill>
                  <a:srgbClr val="A8A8A8"/>
                </a:solidFill>
                <a:latin typeface="Yu Gothic" pitchFamily="34" charset="0"/>
                <a:ea typeface="Yu Gothic" pitchFamily="34" charset="-122"/>
                <a:cs typeface="Yu Gothic" pitchFamily="34" charset="-120"/>
              </a:rPr>
              <a:t>Incubation Team OKR ・ リーダー定例 2026-06-28</a:t>
            </a:r>
            <a:endParaRPr lang="en-US" sz="900" dirty="0"/>
          </a:p>
        </p:txBody>
      </p:sp>
      <p:sp>
        <p:nvSpPr>
          <p:cNvPr id="14" name="Text 12"/>
          <p:cNvSpPr/>
          <p:nvPr/>
        </p:nvSpPr>
        <p:spPr>
          <a:xfrm>
            <a:off x="10436047" y="6400800"/>
            <a:ext cx="914400" cy="274320"/>
          </a:xfrm>
          <a:prstGeom prst="rect">
            <a:avLst/>
          </a:prstGeom>
          <a:noFill/>
          <a:ln/>
        </p:spPr>
        <p:txBody>
          <a:bodyPr wrap="square" lIns="0" tIns="0" rIns="0" bIns="0" rtlCol="0" anchor="t"/>
          <a:lstStyle/>
          <a:p>
            <a:pPr algn="r" indent="0" marL="0">
              <a:buNone/>
            </a:pPr>
            <a:r>
              <a:rPr lang="en-US" sz="900" dirty="0">
                <a:solidFill>
                  <a:srgbClr val="A8A8A8"/>
                </a:solidFill>
                <a:latin typeface="Yu Gothic" pitchFamily="34" charset="0"/>
                <a:ea typeface="Yu Gothic" pitchFamily="34" charset="-122"/>
                <a:cs typeface="Yu Gothic"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DFCFA"/>
        </a:solidFill>
      </p:bgPr>
    </p:bg>
    <p:spTree>
      <p:nvGrpSpPr>
        <p:cNvPr id="1" name=""/>
        <p:cNvGrpSpPr/>
        <p:nvPr/>
      </p:nvGrpSpPr>
      <p:grpSpPr>
        <a:xfrm>
          <a:off x="0" y="0"/>
          <a:ext cx="0" cy="0"/>
          <a:chOff x="0" y="0"/>
          <a:chExt cx="0" cy="0"/>
        </a:xfrm>
      </p:grpSpPr>
      <p:sp>
        <p:nvSpPr>
          <p:cNvPr id="2" name="Shape 0"/>
          <p:cNvSpPr/>
          <p:nvPr/>
        </p:nvSpPr>
        <p:spPr>
          <a:xfrm>
            <a:off x="841248" y="566928"/>
            <a:ext cx="384048" cy="77724"/>
          </a:xfrm>
          <a:prstGeom prst="rect">
            <a:avLst/>
          </a:prstGeom>
          <a:solidFill>
            <a:srgbClr val="B8772E"/>
          </a:solidFill>
          <a:ln/>
        </p:spPr>
      </p:sp>
      <p:sp>
        <p:nvSpPr>
          <p:cNvPr id="3" name="Text 1"/>
          <p:cNvSpPr/>
          <p:nvPr/>
        </p:nvSpPr>
        <p:spPr>
          <a:xfrm>
            <a:off x="841248" y="731520"/>
            <a:ext cx="10509199" cy="365760"/>
          </a:xfrm>
          <a:prstGeom prst="rect">
            <a:avLst/>
          </a:prstGeom>
          <a:noFill/>
          <a:ln/>
        </p:spPr>
        <p:txBody>
          <a:bodyPr wrap="square" lIns="0" tIns="0" rIns="0" bIns="0" rtlCol="0" anchor="t"/>
          <a:lstStyle/>
          <a:p>
            <a:pPr indent="0" marL="0">
              <a:buNone/>
            </a:pPr>
            <a:r>
              <a:rPr lang="en-US" sz="1350" b="1" dirty="0">
                <a:solidFill>
                  <a:srgbClr val="B8772E"/>
                </a:solidFill>
                <a:latin typeface="Yu Gothic" pitchFamily="34" charset="0"/>
                <a:ea typeface="Yu Gothic" pitchFamily="34" charset="-122"/>
                <a:cs typeface="Yu Gothic" pitchFamily="34" charset="-120"/>
              </a:rPr>
              <a:t>Q3 ｜ KR3</a:t>
            </a:r>
            <a:endParaRPr lang="en-US" sz="1350" dirty="0"/>
          </a:p>
        </p:txBody>
      </p:sp>
      <p:sp>
        <p:nvSpPr>
          <p:cNvPr id="4" name="Text 2"/>
          <p:cNvSpPr/>
          <p:nvPr/>
        </p:nvSpPr>
        <p:spPr>
          <a:xfrm>
            <a:off x="841248" y="1078992"/>
            <a:ext cx="10509199" cy="868680"/>
          </a:xfrm>
          <a:prstGeom prst="rect">
            <a:avLst/>
          </a:prstGeom>
          <a:noFill/>
          <a:ln/>
        </p:spPr>
        <p:txBody>
          <a:bodyPr wrap="square" lIns="0" tIns="0" rIns="0" bIns="0" rtlCol="0" anchor="t"/>
          <a:lstStyle/>
          <a:p>
            <a:pPr indent="0" marL="0">
              <a:lnSpc>
                <a:spcPct val="105000"/>
              </a:lnSpc>
              <a:buNone/>
            </a:pPr>
            <a:r>
              <a:rPr lang="en-US" sz="2600" b="1" dirty="0">
                <a:solidFill>
                  <a:srgbClr val="222222"/>
                </a:solidFill>
                <a:latin typeface="Yu Gothic" pitchFamily="34" charset="0"/>
                <a:ea typeface="Yu Gothic" pitchFamily="34" charset="-122"/>
                <a:cs typeface="Yu Gothic" pitchFamily="34" charset="-120"/>
              </a:rPr>
              <a:t>事業戦略策定 ＆ 民主化インパクト指標　＜達成＞</a:t>
            </a:r>
            <a:endParaRPr lang="en-US" sz="2600" dirty="0"/>
          </a:p>
        </p:txBody>
      </p:sp>
      <p:sp>
        <p:nvSpPr>
          <p:cNvPr id="5" name="Shape 3"/>
          <p:cNvSpPr/>
          <p:nvPr/>
        </p:nvSpPr>
        <p:spPr>
          <a:xfrm>
            <a:off x="841248" y="2468880"/>
            <a:ext cx="10509199" cy="2468880"/>
          </a:xfrm>
          <a:prstGeom prst="rect">
            <a:avLst/>
          </a:prstGeom>
          <a:solidFill>
            <a:srgbClr val="F7F2EA"/>
          </a:solidFill>
          <a:ln w="12700">
            <a:solidFill>
              <a:srgbClr val="E4E1DC"/>
            </a:solidFill>
            <a:prstDash val="solid"/>
          </a:ln>
        </p:spPr>
      </p:sp>
      <p:sp>
        <p:nvSpPr>
          <p:cNvPr id="6" name="Text 4"/>
          <p:cNvSpPr/>
          <p:nvPr/>
        </p:nvSpPr>
        <p:spPr>
          <a:xfrm>
            <a:off x="1298448" y="2834640"/>
            <a:ext cx="9594799" cy="1828800"/>
          </a:xfrm>
          <a:prstGeom prst="rect">
            <a:avLst/>
          </a:prstGeom>
          <a:noFill/>
          <a:ln/>
        </p:spPr>
        <p:txBody>
          <a:bodyPr wrap="square" lIns="0" tIns="0" rIns="0" bIns="0" rtlCol="0" anchor="t"/>
          <a:lstStyle/>
          <a:p>
            <a:pPr indent="0" marL="0">
              <a:buNone/>
            </a:pPr>
            <a:r>
              <a:rPr lang="en-US" sz="2000" b="1" dirty="0">
                <a:solidFill>
                  <a:srgbClr val="222222"/>
                </a:solidFill>
                <a:latin typeface="Yu Gothic" pitchFamily="34" charset="0"/>
                <a:ea typeface="Yu Gothic" pitchFamily="34" charset="-122"/>
                <a:cs typeface="Yu Gothic" pitchFamily="34" charset="-120"/>
              </a:rPr>
              <a:t>事業戦略策定済み　</a:t>
            </a:r>
            <a:pPr indent="0" marL="0">
              <a:spcAft>
                <a:spcPts val="600"/>
              </a:spcAft>
              <a:buNone/>
            </a:pPr>
            <a:r>
              <a:rPr lang="en-US" sz="4000" b="1" dirty="0">
                <a:solidFill>
                  <a:srgbClr val="B8772E"/>
                </a:solidFill>
                <a:latin typeface="Yu Gothic" pitchFamily="34" charset="0"/>
                <a:ea typeface="Yu Gothic" pitchFamily="34" charset="-122"/>
                <a:cs typeface="Yu Gothic" pitchFamily="34" charset="-120"/>
              </a:rPr>
              <a:t>100%</a:t>
            </a:r>
            <a:endParaRPr lang="en-US" sz="2000" dirty="0"/>
          </a:p>
          <a:p>
            <a:pPr indent="0" marL="0">
              <a:lnSpc>
                <a:spcPct val="130000"/>
              </a:lnSpc>
              <a:buNone/>
            </a:pPr>
            <a:r>
              <a:rPr lang="en-US" sz="1600" dirty="0">
                <a:solidFill>
                  <a:srgbClr val="707070"/>
                </a:solidFill>
                <a:latin typeface="Yu Gothic" pitchFamily="34" charset="0"/>
                <a:ea typeface="Yu Gothic" pitchFamily="34" charset="-122"/>
                <a:cs typeface="Yu Gothic" pitchFamily="34" charset="-120"/>
              </a:rPr>
              <a:t>全社でインパクト指標が出てきた。</a:t>
            </a:r>
            <a:endParaRPr lang="en-US" sz="2000" dirty="0"/>
          </a:p>
        </p:txBody>
      </p:sp>
      <p:sp>
        <p:nvSpPr>
          <p:cNvPr id="7" name="Text 5"/>
          <p:cNvSpPr/>
          <p:nvPr/>
        </p:nvSpPr>
        <p:spPr>
          <a:xfrm>
            <a:off x="841248" y="6400800"/>
            <a:ext cx="7315200" cy="274320"/>
          </a:xfrm>
          <a:prstGeom prst="rect">
            <a:avLst/>
          </a:prstGeom>
          <a:noFill/>
          <a:ln/>
        </p:spPr>
        <p:txBody>
          <a:bodyPr wrap="square" lIns="0" tIns="0" rIns="0" bIns="0" rtlCol="0" anchor="t"/>
          <a:lstStyle/>
          <a:p>
            <a:pPr indent="0" marL="0">
              <a:buNone/>
            </a:pPr>
            <a:r>
              <a:rPr lang="en-US" sz="900" dirty="0">
                <a:solidFill>
                  <a:srgbClr val="A8A8A8"/>
                </a:solidFill>
                <a:latin typeface="Yu Gothic" pitchFamily="34" charset="0"/>
                <a:ea typeface="Yu Gothic" pitchFamily="34" charset="-122"/>
                <a:cs typeface="Yu Gothic" pitchFamily="34" charset="-120"/>
              </a:rPr>
              <a:t>Incubation Team OKR ・ リーダー定例 2026-06-28</a:t>
            </a:r>
            <a:endParaRPr lang="en-US" sz="900" dirty="0"/>
          </a:p>
        </p:txBody>
      </p:sp>
      <p:sp>
        <p:nvSpPr>
          <p:cNvPr id="8" name="Text 6"/>
          <p:cNvSpPr/>
          <p:nvPr/>
        </p:nvSpPr>
        <p:spPr>
          <a:xfrm>
            <a:off x="10436047" y="6400800"/>
            <a:ext cx="914400" cy="274320"/>
          </a:xfrm>
          <a:prstGeom prst="rect">
            <a:avLst/>
          </a:prstGeom>
          <a:noFill/>
          <a:ln/>
        </p:spPr>
        <p:txBody>
          <a:bodyPr wrap="square" lIns="0" tIns="0" rIns="0" bIns="0" rtlCol="0" anchor="t"/>
          <a:lstStyle/>
          <a:p>
            <a:pPr algn="r" indent="0" marL="0">
              <a:buNone/>
            </a:pPr>
            <a:r>
              <a:rPr lang="en-US" sz="900" dirty="0">
                <a:solidFill>
                  <a:srgbClr val="A8A8A8"/>
                </a:solidFill>
                <a:latin typeface="Yu Gothic" pitchFamily="34" charset="0"/>
                <a:ea typeface="Yu Gothic" pitchFamily="34" charset="-122"/>
                <a:cs typeface="Yu Gothic"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DFCFA"/>
        </a:solidFill>
      </p:bgPr>
    </p:bg>
    <p:spTree>
      <p:nvGrpSpPr>
        <p:cNvPr id="1" name=""/>
        <p:cNvGrpSpPr/>
        <p:nvPr/>
      </p:nvGrpSpPr>
      <p:grpSpPr>
        <a:xfrm>
          <a:off x="0" y="0"/>
          <a:ext cx="0" cy="0"/>
          <a:chOff x="0" y="0"/>
          <a:chExt cx="0" cy="0"/>
        </a:xfrm>
      </p:grpSpPr>
      <p:sp>
        <p:nvSpPr>
          <p:cNvPr id="2" name="Shape 0"/>
          <p:cNvSpPr/>
          <p:nvPr/>
        </p:nvSpPr>
        <p:spPr>
          <a:xfrm>
            <a:off x="841248" y="566928"/>
            <a:ext cx="384048" cy="77724"/>
          </a:xfrm>
          <a:prstGeom prst="rect">
            <a:avLst/>
          </a:prstGeom>
          <a:solidFill>
            <a:srgbClr val="B8772E"/>
          </a:solidFill>
          <a:ln/>
        </p:spPr>
      </p:sp>
      <p:sp>
        <p:nvSpPr>
          <p:cNvPr id="3" name="Text 1"/>
          <p:cNvSpPr/>
          <p:nvPr/>
        </p:nvSpPr>
        <p:spPr>
          <a:xfrm>
            <a:off x="841248" y="731520"/>
            <a:ext cx="10509199" cy="365760"/>
          </a:xfrm>
          <a:prstGeom prst="rect">
            <a:avLst/>
          </a:prstGeom>
          <a:noFill/>
          <a:ln/>
        </p:spPr>
        <p:txBody>
          <a:bodyPr wrap="square" lIns="0" tIns="0" rIns="0" bIns="0" rtlCol="0" anchor="t"/>
          <a:lstStyle/>
          <a:p>
            <a:pPr indent="0" marL="0">
              <a:buNone/>
            </a:pPr>
            <a:r>
              <a:rPr lang="en-US" sz="1350" b="1" dirty="0">
                <a:solidFill>
                  <a:srgbClr val="B8772E"/>
                </a:solidFill>
                <a:latin typeface="Yu Gothic" pitchFamily="34" charset="0"/>
                <a:ea typeface="Yu Gothic" pitchFamily="34" charset="-122"/>
                <a:cs typeface="Yu Gothic" pitchFamily="34" charset="-120"/>
              </a:rPr>
              <a:t>Q4（7月〜）｜ 全社の方向性</a:t>
            </a:r>
            <a:endParaRPr lang="en-US" sz="1350" dirty="0"/>
          </a:p>
        </p:txBody>
      </p:sp>
      <p:sp>
        <p:nvSpPr>
          <p:cNvPr id="4" name="Text 2"/>
          <p:cNvSpPr/>
          <p:nvPr/>
        </p:nvSpPr>
        <p:spPr>
          <a:xfrm>
            <a:off x="841248" y="1078992"/>
            <a:ext cx="10509199" cy="868680"/>
          </a:xfrm>
          <a:prstGeom prst="rect">
            <a:avLst/>
          </a:prstGeom>
          <a:noFill/>
          <a:ln/>
        </p:spPr>
        <p:txBody>
          <a:bodyPr wrap="square" lIns="0" tIns="0" rIns="0" bIns="0" rtlCol="0" anchor="t"/>
          <a:lstStyle/>
          <a:p>
            <a:pPr indent="0" marL="0">
              <a:lnSpc>
                <a:spcPct val="105000"/>
              </a:lnSpc>
              <a:buNone/>
            </a:pPr>
            <a:r>
              <a:rPr lang="en-US" sz="2700" b="1" dirty="0">
                <a:solidFill>
                  <a:srgbClr val="222222"/>
                </a:solidFill>
                <a:latin typeface="Yu Gothic" pitchFamily="34" charset="0"/>
                <a:ea typeface="Yu Gothic" pitchFamily="34" charset="-122"/>
                <a:cs typeface="Yu Gothic" pitchFamily="34" charset="-120"/>
              </a:rPr>
              <a:t>基盤を整える（成長を目指しつつ、守備力を強化）</a:t>
            </a:r>
            <a:endParaRPr lang="en-US" sz="2700" dirty="0"/>
          </a:p>
        </p:txBody>
      </p:sp>
      <p:sp>
        <p:nvSpPr>
          <p:cNvPr id="5" name="Shape 3"/>
          <p:cNvSpPr/>
          <p:nvPr/>
        </p:nvSpPr>
        <p:spPr>
          <a:xfrm>
            <a:off x="841248" y="2331720"/>
            <a:ext cx="3259226" cy="1691640"/>
          </a:xfrm>
          <a:prstGeom prst="rect">
            <a:avLst/>
          </a:prstGeom>
          <a:solidFill>
            <a:srgbClr val="FFFFFF"/>
          </a:solidFill>
          <a:ln w="12700">
            <a:solidFill>
              <a:srgbClr val="E4E1DC"/>
            </a:solidFill>
            <a:prstDash val="solid"/>
          </a:ln>
        </p:spPr>
      </p:sp>
      <p:sp>
        <p:nvSpPr>
          <p:cNvPr id="6" name="Text 4"/>
          <p:cNvSpPr/>
          <p:nvPr/>
        </p:nvSpPr>
        <p:spPr>
          <a:xfrm>
            <a:off x="1115568" y="2606040"/>
            <a:ext cx="2710586" cy="1280160"/>
          </a:xfrm>
          <a:prstGeom prst="rect">
            <a:avLst/>
          </a:prstGeom>
          <a:noFill/>
          <a:ln/>
        </p:spPr>
        <p:txBody>
          <a:bodyPr wrap="square" lIns="0" tIns="0" rIns="0" bIns="0" rtlCol="0" anchor="t"/>
          <a:lstStyle/>
          <a:p>
            <a:pPr indent="0" marL="0">
              <a:spcAft>
                <a:spcPts val="800"/>
              </a:spcAft>
              <a:buNone/>
            </a:pPr>
            <a:r>
              <a:rPr lang="en-US" sz="1500" b="1" dirty="0">
                <a:solidFill>
                  <a:srgbClr val="B8772E"/>
                </a:solidFill>
                <a:latin typeface="Yu Gothic" pitchFamily="34" charset="0"/>
                <a:ea typeface="Yu Gothic" pitchFamily="34" charset="-122"/>
                <a:cs typeface="Yu Gothic" pitchFamily="34" charset="-120"/>
              </a:rPr>
              <a:t>KR1</a:t>
            </a:r>
            <a:endParaRPr lang="en-US" sz="1500" dirty="0"/>
          </a:p>
          <a:p>
            <a:pPr indent="0" marL="0">
              <a:lnSpc>
                <a:spcPct val="120000"/>
              </a:lnSpc>
              <a:buNone/>
            </a:pPr>
            <a:r>
              <a:rPr lang="en-US" sz="1800" b="1" dirty="0">
                <a:solidFill>
                  <a:srgbClr val="222222"/>
                </a:solidFill>
                <a:latin typeface="Yu Gothic" pitchFamily="34" charset="0"/>
                <a:ea typeface="Yu Gothic" pitchFamily="34" charset="-122"/>
                <a:cs typeface="Yu Gothic" pitchFamily="34" charset="-120"/>
              </a:rPr>
              <a:t>人事制度の整備</a:t>
            </a:r>
            <a:endParaRPr lang="en-US" sz="1500" dirty="0"/>
          </a:p>
        </p:txBody>
      </p:sp>
      <p:sp>
        <p:nvSpPr>
          <p:cNvPr id="7" name="Shape 5"/>
          <p:cNvSpPr/>
          <p:nvPr/>
        </p:nvSpPr>
        <p:spPr>
          <a:xfrm>
            <a:off x="4466234" y="2331720"/>
            <a:ext cx="3259226" cy="1691640"/>
          </a:xfrm>
          <a:prstGeom prst="rect">
            <a:avLst/>
          </a:prstGeom>
          <a:solidFill>
            <a:srgbClr val="FFFFFF"/>
          </a:solidFill>
          <a:ln w="12700">
            <a:solidFill>
              <a:srgbClr val="E4E1DC"/>
            </a:solidFill>
            <a:prstDash val="solid"/>
          </a:ln>
        </p:spPr>
      </p:sp>
      <p:sp>
        <p:nvSpPr>
          <p:cNvPr id="8" name="Text 6"/>
          <p:cNvSpPr/>
          <p:nvPr/>
        </p:nvSpPr>
        <p:spPr>
          <a:xfrm>
            <a:off x="4740554" y="2606040"/>
            <a:ext cx="2710586" cy="1280160"/>
          </a:xfrm>
          <a:prstGeom prst="rect">
            <a:avLst/>
          </a:prstGeom>
          <a:noFill/>
          <a:ln/>
        </p:spPr>
        <p:txBody>
          <a:bodyPr wrap="square" lIns="0" tIns="0" rIns="0" bIns="0" rtlCol="0" anchor="t"/>
          <a:lstStyle/>
          <a:p>
            <a:pPr indent="0" marL="0">
              <a:spcAft>
                <a:spcPts val="800"/>
              </a:spcAft>
              <a:buNone/>
            </a:pPr>
            <a:r>
              <a:rPr lang="en-US" sz="1500" b="1" dirty="0">
                <a:solidFill>
                  <a:srgbClr val="B8772E"/>
                </a:solidFill>
                <a:latin typeface="Yu Gothic" pitchFamily="34" charset="0"/>
                <a:ea typeface="Yu Gothic" pitchFamily="34" charset="-122"/>
                <a:cs typeface="Yu Gothic" pitchFamily="34" charset="-120"/>
              </a:rPr>
              <a:t>KR2</a:t>
            </a:r>
            <a:endParaRPr lang="en-US" sz="1500" dirty="0"/>
          </a:p>
          <a:p>
            <a:pPr indent="0" marL="0">
              <a:lnSpc>
                <a:spcPct val="120000"/>
              </a:lnSpc>
              <a:buNone/>
            </a:pPr>
            <a:r>
              <a:rPr lang="en-US" sz="1800" b="1" dirty="0">
                <a:solidFill>
                  <a:srgbClr val="222222"/>
                </a:solidFill>
                <a:latin typeface="Yu Gothic" pitchFamily="34" charset="0"/>
                <a:ea typeface="Yu Gothic" pitchFamily="34" charset="-122"/>
                <a:cs typeface="Yu Gothic" pitchFamily="34" charset="-120"/>
              </a:rPr>
              <a:t>採用の強化</a:t>
            </a:r>
            <a:endParaRPr lang="en-US" sz="1500" dirty="0"/>
          </a:p>
        </p:txBody>
      </p:sp>
      <p:sp>
        <p:nvSpPr>
          <p:cNvPr id="9" name="Shape 7"/>
          <p:cNvSpPr/>
          <p:nvPr/>
        </p:nvSpPr>
        <p:spPr>
          <a:xfrm>
            <a:off x="8091221" y="2331720"/>
            <a:ext cx="3259226" cy="1691640"/>
          </a:xfrm>
          <a:prstGeom prst="rect">
            <a:avLst/>
          </a:prstGeom>
          <a:solidFill>
            <a:srgbClr val="FFFFFF"/>
          </a:solidFill>
          <a:ln w="12700">
            <a:solidFill>
              <a:srgbClr val="E4E1DC"/>
            </a:solidFill>
            <a:prstDash val="solid"/>
          </a:ln>
        </p:spPr>
      </p:sp>
      <p:sp>
        <p:nvSpPr>
          <p:cNvPr id="10" name="Text 8"/>
          <p:cNvSpPr/>
          <p:nvPr/>
        </p:nvSpPr>
        <p:spPr>
          <a:xfrm>
            <a:off x="8365541" y="2606040"/>
            <a:ext cx="2710586" cy="1280160"/>
          </a:xfrm>
          <a:prstGeom prst="rect">
            <a:avLst/>
          </a:prstGeom>
          <a:noFill/>
          <a:ln/>
        </p:spPr>
        <p:txBody>
          <a:bodyPr wrap="square" lIns="0" tIns="0" rIns="0" bIns="0" rtlCol="0" anchor="t"/>
          <a:lstStyle/>
          <a:p>
            <a:pPr indent="0" marL="0">
              <a:spcAft>
                <a:spcPts val="800"/>
              </a:spcAft>
              <a:buNone/>
            </a:pPr>
            <a:r>
              <a:rPr lang="en-US" sz="1500" b="1" dirty="0">
                <a:solidFill>
                  <a:srgbClr val="B8772E"/>
                </a:solidFill>
                <a:latin typeface="Yu Gothic" pitchFamily="34" charset="0"/>
                <a:ea typeface="Yu Gothic" pitchFamily="34" charset="-122"/>
                <a:cs typeface="Yu Gothic" pitchFamily="34" charset="-120"/>
              </a:rPr>
              <a:t>KR3</a:t>
            </a:r>
            <a:endParaRPr lang="en-US" sz="1500" dirty="0"/>
          </a:p>
          <a:p>
            <a:pPr indent="0" marL="0">
              <a:lnSpc>
                <a:spcPct val="120000"/>
              </a:lnSpc>
              <a:buNone/>
            </a:pPr>
            <a:r>
              <a:rPr lang="en-US" sz="1800" b="1" dirty="0">
                <a:solidFill>
                  <a:srgbClr val="222222"/>
                </a:solidFill>
                <a:latin typeface="Yu Gothic" pitchFamily="34" charset="0"/>
                <a:ea typeface="Yu Gothic" pitchFamily="34" charset="-122"/>
                <a:cs typeface="Yu Gothic" pitchFamily="34" charset="-120"/>
              </a:rPr>
              <a:t>業務の効率化</a:t>
            </a:r>
            <a:endParaRPr lang="en-US" sz="1500" dirty="0"/>
          </a:p>
        </p:txBody>
      </p:sp>
      <p:sp>
        <p:nvSpPr>
          <p:cNvPr id="11" name="Shape 9"/>
          <p:cNvSpPr/>
          <p:nvPr/>
        </p:nvSpPr>
        <p:spPr>
          <a:xfrm>
            <a:off x="841248" y="4343400"/>
            <a:ext cx="10509199" cy="1051560"/>
          </a:xfrm>
          <a:prstGeom prst="rect">
            <a:avLst/>
          </a:prstGeom>
          <a:solidFill>
            <a:srgbClr val="F7F2EA"/>
          </a:solidFill>
          <a:ln w="12700">
            <a:solidFill>
              <a:srgbClr val="E4E1DC"/>
            </a:solidFill>
            <a:prstDash val="solid"/>
          </a:ln>
        </p:spPr>
      </p:sp>
      <p:sp>
        <p:nvSpPr>
          <p:cNvPr id="12" name="Text 10"/>
          <p:cNvSpPr/>
          <p:nvPr/>
        </p:nvSpPr>
        <p:spPr>
          <a:xfrm>
            <a:off x="1115568" y="4343400"/>
            <a:ext cx="9960559" cy="1051560"/>
          </a:xfrm>
          <a:prstGeom prst="rect">
            <a:avLst/>
          </a:prstGeom>
          <a:noFill/>
          <a:ln/>
        </p:spPr>
        <p:txBody>
          <a:bodyPr wrap="square" lIns="0" tIns="0" rIns="0" bIns="0" rtlCol="0" anchor="ctr"/>
          <a:lstStyle/>
          <a:p>
            <a:pPr indent="0" marL="0">
              <a:buNone/>
            </a:pPr>
            <a:r>
              <a:rPr lang="en-US" sz="1500" b="1" dirty="0">
                <a:solidFill>
                  <a:srgbClr val="B8772E"/>
                </a:solidFill>
                <a:latin typeface="Yu Gothic" pitchFamily="34" charset="0"/>
                <a:ea typeface="Yu Gothic" pitchFamily="34" charset="-122"/>
                <a:cs typeface="Yu Gothic" pitchFamily="34" charset="-120"/>
              </a:rPr>
              <a:t>営業　</a:t>
            </a:r>
            <a:pPr indent="0" marL="0">
              <a:buNone/>
            </a:pPr>
            <a:r>
              <a:rPr lang="en-US" sz="1700" b="1" dirty="0">
                <a:solidFill>
                  <a:srgbClr val="222222"/>
                </a:solidFill>
                <a:latin typeface="Yu Gothic" pitchFamily="34" charset="0"/>
                <a:ea typeface="Yu Gothic" pitchFamily="34" charset="-122"/>
                <a:cs typeface="Yu Gothic" pitchFamily="34" charset="-120"/>
              </a:rPr>
              <a:t>ユーザーのリテンション施策を打つ</a:t>
            </a:r>
            <a:endParaRPr lang="en-US" sz="1500" dirty="0"/>
          </a:p>
        </p:txBody>
      </p:sp>
      <p:sp>
        <p:nvSpPr>
          <p:cNvPr id="13" name="Text 11"/>
          <p:cNvSpPr/>
          <p:nvPr/>
        </p:nvSpPr>
        <p:spPr>
          <a:xfrm>
            <a:off x="841248" y="6400800"/>
            <a:ext cx="7315200" cy="274320"/>
          </a:xfrm>
          <a:prstGeom prst="rect">
            <a:avLst/>
          </a:prstGeom>
          <a:noFill/>
          <a:ln/>
        </p:spPr>
        <p:txBody>
          <a:bodyPr wrap="square" lIns="0" tIns="0" rIns="0" bIns="0" rtlCol="0" anchor="t"/>
          <a:lstStyle/>
          <a:p>
            <a:pPr indent="0" marL="0">
              <a:buNone/>
            </a:pPr>
            <a:r>
              <a:rPr lang="en-US" sz="900" dirty="0">
                <a:solidFill>
                  <a:srgbClr val="A8A8A8"/>
                </a:solidFill>
                <a:latin typeface="Yu Gothic" pitchFamily="34" charset="0"/>
                <a:ea typeface="Yu Gothic" pitchFamily="34" charset="-122"/>
                <a:cs typeface="Yu Gothic" pitchFamily="34" charset="-120"/>
              </a:rPr>
              <a:t>Incubation Team OKR ・ リーダー定例 2026-06-28</a:t>
            </a:r>
            <a:endParaRPr lang="en-US" sz="900" dirty="0"/>
          </a:p>
        </p:txBody>
      </p:sp>
      <p:sp>
        <p:nvSpPr>
          <p:cNvPr id="14" name="Text 12"/>
          <p:cNvSpPr/>
          <p:nvPr/>
        </p:nvSpPr>
        <p:spPr>
          <a:xfrm>
            <a:off x="10436047" y="6400800"/>
            <a:ext cx="914400" cy="274320"/>
          </a:xfrm>
          <a:prstGeom prst="rect">
            <a:avLst/>
          </a:prstGeom>
          <a:noFill/>
          <a:ln/>
        </p:spPr>
        <p:txBody>
          <a:bodyPr wrap="square" lIns="0" tIns="0" rIns="0" bIns="0" rtlCol="0" anchor="t"/>
          <a:lstStyle/>
          <a:p>
            <a:pPr algn="r" indent="0" marL="0">
              <a:buNone/>
            </a:pPr>
            <a:r>
              <a:rPr lang="en-US" sz="900" dirty="0">
                <a:solidFill>
                  <a:srgbClr val="A8A8A8"/>
                </a:solidFill>
                <a:latin typeface="Yu Gothic" pitchFamily="34" charset="0"/>
                <a:ea typeface="Yu Gothic" pitchFamily="34" charset="-122"/>
                <a:cs typeface="Yu Gothic"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DFCFA"/>
        </a:solidFill>
      </p:bgPr>
    </p:bg>
    <p:spTree>
      <p:nvGrpSpPr>
        <p:cNvPr id="1" name=""/>
        <p:cNvGrpSpPr/>
        <p:nvPr/>
      </p:nvGrpSpPr>
      <p:grpSpPr>
        <a:xfrm>
          <a:off x="0" y="0"/>
          <a:ext cx="0" cy="0"/>
          <a:chOff x="0" y="0"/>
          <a:chExt cx="0" cy="0"/>
        </a:xfrm>
      </p:grpSpPr>
      <p:sp>
        <p:nvSpPr>
          <p:cNvPr id="2" name="Shape 0"/>
          <p:cNvSpPr/>
          <p:nvPr/>
        </p:nvSpPr>
        <p:spPr>
          <a:xfrm>
            <a:off x="841248" y="566928"/>
            <a:ext cx="384048" cy="77724"/>
          </a:xfrm>
          <a:prstGeom prst="rect">
            <a:avLst/>
          </a:prstGeom>
          <a:solidFill>
            <a:srgbClr val="B8772E"/>
          </a:solidFill>
          <a:ln/>
        </p:spPr>
      </p:sp>
      <p:sp>
        <p:nvSpPr>
          <p:cNvPr id="3" name="Text 1"/>
          <p:cNvSpPr/>
          <p:nvPr/>
        </p:nvSpPr>
        <p:spPr>
          <a:xfrm>
            <a:off x="841248" y="731520"/>
            <a:ext cx="10509199" cy="365760"/>
          </a:xfrm>
          <a:prstGeom prst="rect">
            <a:avLst/>
          </a:prstGeom>
          <a:noFill/>
          <a:ln/>
        </p:spPr>
        <p:txBody>
          <a:bodyPr wrap="square" lIns="0" tIns="0" rIns="0" bIns="0" rtlCol="0" anchor="t"/>
          <a:lstStyle/>
          <a:p>
            <a:pPr indent="0" marL="0">
              <a:buNone/>
            </a:pPr>
            <a:r>
              <a:rPr lang="en-US" sz="1350" b="1" dirty="0">
                <a:solidFill>
                  <a:srgbClr val="B8772E"/>
                </a:solidFill>
                <a:latin typeface="Yu Gothic" pitchFamily="34" charset="0"/>
                <a:ea typeface="Yu Gothic" pitchFamily="34" charset="-122"/>
                <a:cs typeface="Yu Gothic" pitchFamily="34" charset="-120"/>
              </a:rPr>
              <a:t>Q4（7月〜）｜ Platform OKR 案</a:t>
            </a:r>
            <a:endParaRPr lang="en-US" sz="1350" dirty="0"/>
          </a:p>
        </p:txBody>
      </p:sp>
      <p:sp>
        <p:nvSpPr>
          <p:cNvPr id="4" name="Text 2"/>
          <p:cNvSpPr/>
          <p:nvPr/>
        </p:nvSpPr>
        <p:spPr>
          <a:xfrm>
            <a:off x="841248" y="1078992"/>
            <a:ext cx="10509199" cy="868680"/>
          </a:xfrm>
          <a:prstGeom prst="rect">
            <a:avLst/>
          </a:prstGeom>
          <a:noFill/>
          <a:ln/>
        </p:spPr>
        <p:txBody>
          <a:bodyPr wrap="square" lIns="0" tIns="0" rIns="0" bIns="0" rtlCol="0" anchor="t"/>
          <a:lstStyle/>
          <a:p>
            <a:pPr indent="0" marL="0">
              <a:lnSpc>
                <a:spcPct val="105000"/>
              </a:lnSpc>
              <a:buNone/>
            </a:pPr>
            <a:r>
              <a:rPr lang="en-US" sz="2200" b="1" dirty="0">
                <a:solidFill>
                  <a:srgbClr val="222222"/>
                </a:solidFill>
                <a:latin typeface="Yu Gothic" pitchFamily="34" charset="0"/>
                <a:ea typeface="Yu Gothic" pitchFamily="34" charset="-122"/>
                <a:cs typeface="Yu Gothic" pitchFamily="34" charset="-120"/>
              </a:rPr>
              <a:t>Objective：来期に民主化を推進するための下準備・仕掛けづくり</a:t>
            </a:r>
            <a:endParaRPr lang="en-US" sz="2200" dirty="0"/>
          </a:p>
        </p:txBody>
      </p:sp>
      <p:sp>
        <p:nvSpPr>
          <p:cNvPr id="5" name="Shape 3"/>
          <p:cNvSpPr/>
          <p:nvPr/>
        </p:nvSpPr>
        <p:spPr>
          <a:xfrm>
            <a:off x="841248" y="2240280"/>
            <a:ext cx="10509199" cy="1051560"/>
          </a:xfrm>
          <a:prstGeom prst="rect">
            <a:avLst/>
          </a:prstGeom>
          <a:solidFill>
            <a:srgbClr val="FFFFFF"/>
          </a:solidFill>
          <a:ln w="12700">
            <a:solidFill>
              <a:srgbClr val="E4E1DC"/>
            </a:solidFill>
            <a:prstDash val="solid"/>
          </a:ln>
        </p:spPr>
      </p:sp>
      <p:sp>
        <p:nvSpPr>
          <p:cNvPr id="6" name="Shape 4"/>
          <p:cNvSpPr/>
          <p:nvPr/>
        </p:nvSpPr>
        <p:spPr>
          <a:xfrm>
            <a:off x="841248" y="2240280"/>
            <a:ext cx="73152" cy="1051560"/>
          </a:xfrm>
          <a:prstGeom prst="rect">
            <a:avLst/>
          </a:prstGeom>
          <a:solidFill>
            <a:srgbClr val="B8772E"/>
          </a:solidFill>
          <a:ln/>
        </p:spPr>
      </p:sp>
      <p:sp>
        <p:nvSpPr>
          <p:cNvPr id="7" name="Text 5"/>
          <p:cNvSpPr/>
          <p:nvPr/>
        </p:nvSpPr>
        <p:spPr>
          <a:xfrm>
            <a:off x="1152144" y="2395728"/>
            <a:ext cx="9960559" cy="822960"/>
          </a:xfrm>
          <a:prstGeom prst="rect">
            <a:avLst/>
          </a:prstGeom>
          <a:noFill/>
          <a:ln/>
        </p:spPr>
        <p:txBody>
          <a:bodyPr wrap="square" lIns="0" tIns="0" rIns="0" bIns="0" rtlCol="0" anchor="t"/>
          <a:lstStyle/>
          <a:p>
            <a:pPr indent="0" marL="0">
              <a:spcAft>
                <a:spcPts val="400"/>
              </a:spcAft>
              <a:buNone/>
            </a:pPr>
            <a:r>
              <a:rPr lang="en-US" sz="1800" b="1" dirty="0">
                <a:solidFill>
                  <a:srgbClr val="222222"/>
                </a:solidFill>
                <a:latin typeface="Yu Gothic" pitchFamily="34" charset="0"/>
                <a:ea typeface="Yu Gothic" pitchFamily="34" charset="-122"/>
                <a:cs typeface="Yu Gothic" pitchFamily="34" charset="-120"/>
              </a:rPr>
              <a:t>KR1　来期ヨミ C → B へのアップ</a:t>
            </a:r>
            <a:endParaRPr lang="en-US" sz="1800" dirty="0"/>
          </a:p>
          <a:p>
            <a:pPr indent="0" marL="0">
              <a:buNone/>
            </a:pPr>
            <a:r>
              <a:rPr lang="en-US" sz="1300" dirty="0">
                <a:solidFill>
                  <a:srgbClr val="707070"/>
                </a:solidFill>
                <a:latin typeface="Yu Gothic" pitchFamily="34" charset="0"/>
                <a:ea typeface="Yu Gothic" pitchFamily="34" charset="-122"/>
                <a:cs typeface="Yu Gothic" pitchFamily="34" charset="-120"/>
              </a:rPr>
              <a:t>指標：Shopbot 導入台数</a:t>
            </a:r>
            <a:endParaRPr lang="en-US" sz="1800" dirty="0"/>
          </a:p>
        </p:txBody>
      </p:sp>
      <p:sp>
        <p:nvSpPr>
          <p:cNvPr id="8" name="Shape 6"/>
          <p:cNvSpPr/>
          <p:nvPr/>
        </p:nvSpPr>
        <p:spPr>
          <a:xfrm>
            <a:off x="841248" y="3456432"/>
            <a:ext cx="10509199" cy="2331720"/>
          </a:xfrm>
          <a:prstGeom prst="rect">
            <a:avLst/>
          </a:prstGeom>
          <a:solidFill>
            <a:srgbClr val="F7F2EA"/>
          </a:solidFill>
          <a:ln w="12700">
            <a:solidFill>
              <a:srgbClr val="E4E1DC"/>
            </a:solidFill>
            <a:prstDash val="solid"/>
          </a:ln>
        </p:spPr>
      </p:sp>
      <p:sp>
        <p:nvSpPr>
          <p:cNvPr id="9" name="Shape 7"/>
          <p:cNvSpPr/>
          <p:nvPr/>
        </p:nvSpPr>
        <p:spPr>
          <a:xfrm>
            <a:off x="841248" y="3456432"/>
            <a:ext cx="73152" cy="2331720"/>
          </a:xfrm>
          <a:prstGeom prst="rect">
            <a:avLst/>
          </a:prstGeom>
          <a:solidFill>
            <a:srgbClr val="B8772E"/>
          </a:solidFill>
          <a:ln/>
        </p:spPr>
      </p:sp>
      <p:sp>
        <p:nvSpPr>
          <p:cNvPr id="10" name="Text 8"/>
          <p:cNvSpPr/>
          <p:nvPr/>
        </p:nvSpPr>
        <p:spPr>
          <a:xfrm>
            <a:off x="1152144" y="3611880"/>
            <a:ext cx="9960559" cy="2103120"/>
          </a:xfrm>
          <a:prstGeom prst="rect">
            <a:avLst/>
          </a:prstGeom>
          <a:noFill/>
          <a:ln/>
        </p:spPr>
        <p:txBody>
          <a:bodyPr wrap="square" lIns="0" tIns="0" rIns="0" bIns="0" rtlCol="0" anchor="t"/>
          <a:lstStyle/>
          <a:p>
            <a:pPr indent="0" marL="0">
              <a:spcAft>
                <a:spcPts val="500"/>
              </a:spcAft>
              <a:buNone/>
            </a:pPr>
            <a:r>
              <a:rPr lang="en-US" sz="1800" b="1" dirty="0">
                <a:solidFill>
                  <a:srgbClr val="222222"/>
                </a:solidFill>
                <a:latin typeface="Yu Gothic" pitchFamily="34" charset="0"/>
                <a:ea typeface="Yu Gothic" pitchFamily="34" charset="-122"/>
                <a:cs typeface="Yu Gothic" pitchFamily="34" charset="-120"/>
              </a:rPr>
              <a:t>KR2　ポータルサイト「ShopBot＋」をリリース（導入300台に合わせて）</a:t>
            </a:r>
            <a:endParaRPr lang="en-US" sz="1800" dirty="0"/>
          </a:p>
          <a:p>
            <a:pPr indent="0" marL="0">
              <a:spcAft>
                <a:spcPts val="900"/>
              </a:spcAft>
              <a:buNone/>
            </a:pPr>
            <a:r>
              <a:rPr lang="en-US" sz="1300" dirty="0">
                <a:solidFill>
                  <a:srgbClr val="707070"/>
                </a:solidFill>
                <a:latin typeface="Yu Gothic" pitchFamily="34" charset="0"/>
                <a:ea typeface="Yu Gothic" pitchFamily="34" charset="-122"/>
                <a:cs typeface="Yu Gothic" pitchFamily="34" charset="-120"/>
              </a:rPr>
              <a:t>指標：地域クリエイター拠点数 ／ ものづくりに触れた人</a:t>
            </a:r>
            <a:endParaRPr lang="en-US" sz="1800" dirty="0"/>
          </a:p>
          <a:p>
            <a:pPr indent="0" marL="0">
              <a:lnSpc>
                <a:spcPct val="125000"/>
              </a:lnSpc>
              <a:spcAft>
                <a:spcPts val="600"/>
              </a:spcAft>
              <a:buNone/>
            </a:pPr>
            <a:r>
              <a:rPr lang="en-US" sz="1400" dirty="0">
                <a:solidFill>
                  <a:srgbClr val="222222"/>
                </a:solidFill>
                <a:latin typeface="Yu Gothic" pitchFamily="34" charset="0"/>
                <a:ea typeface="Yu Gothic" pitchFamily="34" charset="-122"/>
                <a:cs typeface="Yu Gothic" pitchFamily="34" charset="-120"/>
              </a:rPr>
              <a:t>・ 地域クリエイター拠点を ＿＿ 拠点（目標数・定義を決めていく）</a:t>
            </a:r>
            <a:endParaRPr lang="en-US" sz="1800" dirty="0"/>
          </a:p>
          <a:p>
            <a:pPr indent="0" marL="0">
              <a:lnSpc>
                <a:spcPct val="125000"/>
              </a:lnSpc>
              <a:spcAft>
                <a:spcPts val="600"/>
              </a:spcAft>
              <a:buNone/>
            </a:pPr>
            <a:r>
              <a:rPr lang="en-US" sz="1400" dirty="0">
                <a:solidFill>
                  <a:srgbClr val="222222"/>
                </a:solidFill>
                <a:latin typeface="Yu Gothic" pitchFamily="34" charset="0"/>
                <a:ea typeface="Yu Gothic" pitchFamily="34" charset="-122"/>
                <a:cs typeface="Yu Gothic" pitchFamily="34" charset="-120"/>
              </a:rPr>
              <a:t>・ ★ 地域クリエイターを育てる・フィールドになる拠点</a:t>
            </a:r>
            <a:endParaRPr lang="en-US" sz="1800" dirty="0"/>
          </a:p>
          <a:p>
            <a:pPr indent="0" marL="0">
              <a:lnSpc>
                <a:spcPct val="125000"/>
              </a:lnSpc>
              <a:buNone/>
            </a:pPr>
            <a:r>
              <a:rPr lang="en-US" sz="1400" dirty="0">
                <a:solidFill>
                  <a:srgbClr val="222222"/>
                </a:solidFill>
                <a:latin typeface="Yu Gothic" pitchFamily="34" charset="0"/>
                <a:ea typeface="Yu Gothic" pitchFamily="34" charset="-122"/>
                <a:cs typeface="Yu Gothic" pitchFamily="34" charset="-120"/>
              </a:rPr>
              <a:t>・ A（挑戦）：大学生向けテストプログラム（木匠塾企画）</a:t>
            </a:r>
            <a:endParaRPr lang="en-US" sz="1800" dirty="0"/>
          </a:p>
        </p:txBody>
      </p:sp>
      <p:sp>
        <p:nvSpPr>
          <p:cNvPr id="11" name="Text 9"/>
          <p:cNvSpPr/>
          <p:nvPr/>
        </p:nvSpPr>
        <p:spPr>
          <a:xfrm>
            <a:off x="841248" y="6400800"/>
            <a:ext cx="7315200" cy="274320"/>
          </a:xfrm>
          <a:prstGeom prst="rect">
            <a:avLst/>
          </a:prstGeom>
          <a:noFill/>
          <a:ln/>
        </p:spPr>
        <p:txBody>
          <a:bodyPr wrap="square" lIns="0" tIns="0" rIns="0" bIns="0" rtlCol="0" anchor="t"/>
          <a:lstStyle/>
          <a:p>
            <a:pPr indent="0" marL="0">
              <a:buNone/>
            </a:pPr>
            <a:r>
              <a:rPr lang="en-US" sz="900" dirty="0">
                <a:solidFill>
                  <a:srgbClr val="A8A8A8"/>
                </a:solidFill>
                <a:latin typeface="Yu Gothic" pitchFamily="34" charset="0"/>
                <a:ea typeface="Yu Gothic" pitchFamily="34" charset="-122"/>
                <a:cs typeface="Yu Gothic" pitchFamily="34" charset="-120"/>
              </a:rPr>
              <a:t>Incubation Team OKR ・ リーダー定例 2026-06-28</a:t>
            </a:r>
            <a:endParaRPr lang="en-US" sz="900" dirty="0"/>
          </a:p>
        </p:txBody>
      </p:sp>
      <p:sp>
        <p:nvSpPr>
          <p:cNvPr id="12" name="Text 10"/>
          <p:cNvSpPr/>
          <p:nvPr/>
        </p:nvSpPr>
        <p:spPr>
          <a:xfrm>
            <a:off x="10436047" y="6400800"/>
            <a:ext cx="914400" cy="274320"/>
          </a:xfrm>
          <a:prstGeom prst="rect">
            <a:avLst/>
          </a:prstGeom>
          <a:noFill/>
          <a:ln/>
        </p:spPr>
        <p:txBody>
          <a:bodyPr wrap="square" lIns="0" tIns="0" rIns="0" bIns="0" rtlCol="0" anchor="t"/>
          <a:lstStyle/>
          <a:p>
            <a:pPr algn="r" indent="0" marL="0">
              <a:buNone/>
            </a:pPr>
            <a:r>
              <a:rPr lang="en-US" sz="900" dirty="0">
                <a:solidFill>
                  <a:srgbClr val="A8A8A8"/>
                </a:solidFill>
                <a:latin typeface="Yu Gothic" pitchFamily="34" charset="0"/>
                <a:ea typeface="Yu Gothic" pitchFamily="34" charset="-122"/>
                <a:cs typeface="Yu Gothic"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DFCFA"/>
        </a:solidFill>
      </p:bgPr>
    </p:bg>
    <p:spTree>
      <p:nvGrpSpPr>
        <p:cNvPr id="1" name=""/>
        <p:cNvGrpSpPr/>
        <p:nvPr/>
      </p:nvGrpSpPr>
      <p:grpSpPr>
        <a:xfrm>
          <a:off x="0" y="0"/>
          <a:ext cx="0" cy="0"/>
          <a:chOff x="0" y="0"/>
          <a:chExt cx="0" cy="0"/>
        </a:xfrm>
      </p:grpSpPr>
      <p:sp>
        <p:nvSpPr>
          <p:cNvPr id="2" name="Shape 0"/>
          <p:cNvSpPr/>
          <p:nvPr/>
        </p:nvSpPr>
        <p:spPr>
          <a:xfrm>
            <a:off x="841248" y="566928"/>
            <a:ext cx="384048" cy="77724"/>
          </a:xfrm>
          <a:prstGeom prst="rect">
            <a:avLst/>
          </a:prstGeom>
          <a:solidFill>
            <a:srgbClr val="B8772E"/>
          </a:solidFill>
          <a:ln/>
        </p:spPr>
      </p:sp>
      <p:sp>
        <p:nvSpPr>
          <p:cNvPr id="3" name="Text 1"/>
          <p:cNvSpPr/>
          <p:nvPr/>
        </p:nvSpPr>
        <p:spPr>
          <a:xfrm>
            <a:off x="841248" y="731520"/>
            <a:ext cx="10509199" cy="365760"/>
          </a:xfrm>
          <a:prstGeom prst="rect">
            <a:avLst/>
          </a:prstGeom>
          <a:noFill/>
          <a:ln/>
        </p:spPr>
        <p:txBody>
          <a:bodyPr wrap="square" lIns="0" tIns="0" rIns="0" bIns="0" rtlCol="0" anchor="t"/>
          <a:lstStyle/>
          <a:p>
            <a:pPr indent="0" marL="0">
              <a:buNone/>
            </a:pPr>
            <a:r>
              <a:rPr lang="en-US" sz="1350" b="1" dirty="0">
                <a:solidFill>
                  <a:srgbClr val="B8772E"/>
                </a:solidFill>
                <a:latin typeface="Yu Gothic" pitchFamily="34" charset="0"/>
                <a:ea typeface="Yu Gothic" pitchFamily="34" charset="-122"/>
                <a:cs typeface="Yu Gothic" pitchFamily="34" charset="-120"/>
              </a:rPr>
              <a:t>Q4 ｜ ShopBot＋</a:t>
            </a:r>
            <a:endParaRPr lang="en-US" sz="1350" dirty="0"/>
          </a:p>
        </p:txBody>
      </p:sp>
      <p:sp>
        <p:nvSpPr>
          <p:cNvPr id="4" name="Text 2"/>
          <p:cNvSpPr/>
          <p:nvPr/>
        </p:nvSpPr>
        <p:spPr>
          <a:xfrm>
            <a:off x="841248" y="1078992"/>
            <a:ext cx="10509199" cy="868680"/>
          </a:xfrm>
          <a:prstGeom prst="rect">
            <a:avLst/>
          </a:prstGeom>
          <a:noFill/>
          <a:ln/>
        </p:spPr>
        <p:txBody>
          <a:bodyPr wrap="square" lIns="0" tIns="0" rIns="0" bIns="0" rtlCol="0" anchor="t"/>
          <a:lstStyle/>
          <a:p>
            <a:pPr indent="0" marL="0">
              <a:lnSpc>
                <a:spcPct val="105000"/>
              </a:lnSpc>
              <a:buNone/>
            </a:pPr>
            <a:r>
              <a:rPr lang="en-US" sz="3000" b="1" dirty="0">
                <a:solidFill>
                  <a:srgbClr val="222222"/>
                </a:solidFill>
                <a:latin typeface="Yu Gothic" pitchFamily="34" charset="0"/>
                <a:ea typeface="Yu Gothic" pitchFamily="34" charset="-122"/>
                <a:cs typeface="Yu Gothic" pitchFamily="34" charset="-120"/>
              </a:rPr>
              <a:t>「ShopBot＋」で提供するもの</a:t>
            </a:r>
            <a:endParaRPr lang="en-US" sz="3000" dirty="0"/>
          </a:p>
        </p:txBody>
      </p:sp>
      <p:sp>
        <p:nvSpPr>
          <p:cNvPr id="5" name="Text 3"/>
          <p:cNvSpPr/>
          <p:nvPr/>
        </p:nvSpPr>
        <p:spPr>
          <a:xfrm>
            <a:off x="841248" y="1783080"/>
            <a:ext cx="10509199" cy="365760"/>
          </a:xfrm>
          <a:prstGeom prst="rect">
            <a:avLst/>
          </a:prstGeom>
          <a:noFill/>
          <a:ln/>
        </p:spPr>
        <p:txBody>
          <a:bodyPr wrap="square" lIns="0" tIns="0" rIns="0" bIns="0" rtlCol="0" anchor="t"/>
          <a:lstStyle/>
          <a:p>
            <a:pPr indent="0" marL="0">
              <a:buNone/>
            </a:pPr>
            <a:r>
              <a:rPr lang="en-US" sz="1300" dirty="0">
                <a:solidFill>
                  <a:srgbClr val="707070"/>
                </a:solidFill>
                <a:latin typeface="Yu Gothic" pitchFamily="34" charset="0"/>
                <a:ea typeface="Yu Gothic" pitchFamily="34" charset="-122"/>
                <a:cs typeface="Yu Gothic" pitchFamily="34" charset="-120"/>
              </a:rPr>
              <a:t>ツールは、これらを実現するための「手段」</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41248" y="2331720"/>
          <a:ext cx="10509199" cy="914400"/>
        </p:xfrm>
        <a:graphic>
          <a:graphicData uri="http://schemas.openxmlformats.org/drawingml/2006/table">
            <a:tbl>
              <a:tblPr/>
              <a:tblGrid>
                <a:gridCol w="3749040"/>
                <a:gridCol w="3840480"/>
                <a:gridCol w="2919679"/>
              </a:tblGrid>
              <a:tr h="457200">
                <a:tc>
                  <a:txBody>
                    <a:bodyPr/>
                    <a:lstStyle/>
                    <a:p>
                      <a:pPr algn="l" indent="0" marL="0">
                        <a:buNone/>
                      </a:pPr>
                      <a:r>
                        <a:rPr lang="en-US" sz="1250" b="1" dirty="0">
                          <a:solidFill>
                            <a:srgbClr val="FFFFFF"/>
                          </a:solidFill>
                          <a:latin typeface="Yu Gothic" pitchFamily="34" charset="0"/>
                          <a:ea typeface="Yu Gothic" pitchFamily="34" charset="-122"/>
                          <a:cs typeface="Yu Gothic" pitchFamily="34" charset="-120"/>
                        </a:rPr>
                        <a:t>提供物</a:t>
                      </a:r>
                      <a:endParaRPr lang="en-US" sz="1250" dirty="0">
                        <a:latin typeface="Yu Gothic" charset="0"/>
                        <a:ea typeface="Yu Gothic" charset="0"/>
                        <a:cs typeface="Yu Gothic" charset="0"/>
                      </a:endParaRPr>
                    </a:p>
                  </a:txBody>
                  <a:tcPr marL="101600" marR="101600" marT="50800" marB="508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222222"/>
                    </a:solidFill>
                  </a:tcPr>
                </a:tc>
                <a:tc>
                  <a:txBody>
                    <a:bodyPr/>
                    <a:lstStyle/>
                    <a:p>
                      <a:pPr algn="l" indent="0" marL="0">
                        <a:buNone/>
                      </a:pPr>
                      <a:r>
                        <a:rPr lang="en-US" sz="1250" b="1" dirty="0">
                          <a:solidFill>
                            <a:srgbClr val="FFFFFF"/>
                          </a:solidFill>
                          <a:latin typeface="Yu Gothic" pitchFamily="34" charset="0"/>
                          <a:ea typeface="Yu Gothic" pitchFamily="34" charset="-122"/>
                          <a:cs typeface="Yu Gothic" pitchFamily="34" charset="-120"/>
                        </a:rPr>
                        <a:t>担当</a:t>
                      </a:r>
                      <a:endParaRPr lang="en-US" sz="1250" dirty="0">
                        <a:latin typeface="Yu Gothic" charset="0"/>
                        <a:ea typeface="Yu Gothic" charset="0"/>
                        <a:cs typeface="Yu Gothic" charset="0"/>
                      </a:endParaRPr>
                    </a:p>
                  </a:txBody>
                  <a:tcPr marL="101600" marR="101600" marT="50800" marB="508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222222"/>
                    </a:solidFill>
                  </a:tcPr>
                </a:tc>
                <a:tc>
                  <a:txBody>
                    <a:bodyPr/>
                    <a:lstStyle/>
                    <a:p>
                      <a:pPr algn="l" indent="0" marL="0">
                        <a:buNone/>
                      </a:pPr>
                      <a:r>
                        <a:rPr lang="en-US" sz="1250" b="1" dirty="0">
                          <a:solidFill>
                            <a:srgbClr val="FFFFFF"/>
                          </a:solidFill>
                          <a:latin typeface="Yu Gothic" pitchFamily="34" charset="0"/>
                          <a:ea typeface="Yu Gothic" pitchFamily="34" charset="-122"/>
                          <a:cs typeface="Yu Gothic" pitchFamily="34" charset="-120"/>
                        </a:rPr>
                        <a:t>状態</a:t>
                      </a:r>
                      <a:endParaRPr lang="en-US" sz="1250" dirty="0">
                        <a:latin typeface="Yu Gothic" charset="0"/>
                        <a:ea typeface="Yu Gothic" charset="0"/>
                        <a:cs typeface="Yu Gothic" charset="0"/>
                      </a:endParaRPr>
                    </a:p>
                  </a:txBody>
                  <a:tcPr marL="101600" marR="101600" marT="50800" marB="508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222222"/>
                    </a:solidFill>
                  </a:tcPr>
                </a:tc>
              </a:tr>
              <a:tr h="658368">
                <a:tc>
                  <a:txBody>
                    <a:bodyPr/>
                    <a:lstStyle/>
                    <a:p>
                      <a:pPr algn="l" indent="0" marL="0">
                        <a:buNone/>
                      </a:pPr>
                      <a:r>
                        <a:rPr lang="en-US" sz="1500" b="1" dirty="0">
                          <a:solidFill>
                            <a:srgbClr val="222222"/>
                          </a:solidFill>
                          <a:latin typeface="Yu Gothic" pitchFamily="34" charset="0"/>
                          <a:ea typeface="Yu Gothic" pitchFamily="34" charset="-122"/>
                          <a:cs typeface="Yu Gothic" pitchFamily="34" charset="-120"/>
                        </a:rPr>
                        <a:t>教育プログラム</a:t>
                      </a:r>
                      <a:endParaRPr lang="en-US" sz="1500" dirty="0">
                        <a:latin typeface="Yu Gothic" charset="0"/>
                        <a:ea typeface="Yu Gothic" charset="0"/>
                        <a:cs typeface="Yu Gothic" charset="0"/>
                      </a:endParaRPr>
                    </a:p>
                  </a:txBody>
                  <a:tcPr marL="101600" marR="101600" marT="50800" marB="508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FFFFF"/>
                    </a:solidFill>
                  </a:tcPr>
                </a:tc>
                <a:tc>
                  <a:txBody>
                    <a:bodyPr/>
                    <a:lstStyle/>
                    <a:p>
                      <a:pPr algn="l" indent="0" marL="0">
                        <a:buNone/>
                      </a:pPr>
                      <a:r>
                        <a:rPr lang="en-US" sz="1350" dirty="0">
                          <a:solidFill>
                            <a:srgbClr val="707070"/>
                          </a:solidFill>
                          <a:latin typeface="Yu Gothic" pitchFamily="34" charset="0"/>
                          <a:ea typeface="Yu Gothic" pitchFamily="34" charset="-122"/>
                          <a:cs typeface="Yu Gothic" pitchFamily="34" charset="-120"/>
                        </a:rPr>
                        <a:t>みき・ふく</a:t>
                      </a:r>
                      <a:endParaRPr lang="en-US" sz="1350" dirty="0">
                        <a:latin typeface="Yu Gothic" charset="0"/>
                        <a:ea typeface="Yu Gothic" charset="0"/>
                        <a:cs typeface="Yu Gothic" charset="0"/>
                      </a:endParaRPr>
                    </a:p>
                  </a:txBody>
                  <a:tcPr marL="101600" marR="101600" marT="50800" marB="508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FFFFF"/>
                    </a:solidFill>
                  </a:tcPr>
                </a:tc>
                <a:tc>
                  <a:txBody>
                    <a:bodyPr/>
                    <a:lstStyle/>
                    <a:p>
                      <a:pPr algn="l" indent="0" marL="0">
                        <a:buNone/>
                      </a:pPr>
                      <a:endParaRPr lang="en-US" sz="1350" dirty="0">
                        <a:latin typeface="Yu Gothic" charset="0"/>
                        <a:ea typeface="Yu Gothic" charset="0"/>
                        <a:cs typeface="Yu Gothic" charset="0"/>
                      </a:endParaRPr>
                    </a:p>
                  </a:txBody>
                  <a:tcPr marL="101600" marR="101600" marT="50800" marB="508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FFFFF"/>
                    </a:solidFill>
                  </a:tcPr>
                </a:tc>
              </a:tr>
              <a:tr h="658368">
                <a:tc>
                  <a:txBody>
                    <a:bodyPr/>
                    <a:lstStyle/>
                    <a:p>
                      <a:pPr algn="l" indent="0" marL="0">
                        <a:buNone/>
                      </a:pPr>
                      <a:r>
                        <a:rPr lang="en-US" sz="1500" b="1" dirty="0">
                          <a:solidFill>
                            <a:srgbClr val="222222"/>
                          </a:solidFill>
                          <a:latin typeface="Yu Gothic" pitchFamily="34" charset="0"/>
                          <a:ea typeface="Yu Gothic" pitchFamily="34" charset="-122"/>
                          <a:cs typeface="Yu Gothic" pitchFamily="34" charset="-120"/>
                        </a:rPr>
                        <a:t>人（人材育成）</a:t>
                      </a:r>
                      <a:endParaRPr lang="en-US" sz="1500" dirty="0">
                        <a:latin typeface="Yu Gothic" charset="0"/>
                        <a:ea typeface="Yu Gothic" charset="0"/>
                        <a:cs typeface="Yu Gothic" charset="0"/>
                      </a:endParaRPr>
                    </a:p>
                  </a:txBody>
                  <a:tcPr marL="101600" marR="101600" marT="50800" marB="508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7F2EA"/>
                    </a:solidFill>
                  </a:tcPr>
                </a:tc>
                <a:tc>
                  <a:txBody>
                    <a:bodyPr/>
                    <a:lstStyle/>
                    <a:p>
                      <a:pPr algn="l" indent="0" marL="0">
                        <a:buNone/>
                      </a:pPr>
                      <a:r>
                        <a:rPr lang="en-US" sz="1350" dirty="0">
                          <a:solidFill>
                            <a:srgbClr val="707070"/>
                          </a:solidFill>
                          <a:latin typeface="Yu Gothic" pitchFamily="34" charset="0"/>
                          <a:ea typeface="Yu Gothic" pitchFamily="34" charset="-122"/>
                          <a:cs typeface="Yu Gothic" pitchFamily="34" charset="-120"/>
                        </a:rPr>
                        <a:t>戸倉・もえさん・あおやなぎ</a:t>
                      </a:r>
                      <a:endParaRPr lang="en-US" sz="1350" dirty="0">
                        <a:latin typeface="Yu Gothic" charset="0"/>
                        <a:ea typeface="Yu Gothic" charset="0"/>
                        <a:cs typeface="Yu Gothic" charset="0"/>
                      </a:endParaRPr>
                    </a:p>
                  </a:txBody>
                  <a:tcPr marL="101600" marR="101600" marT="50800" marB="508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7F2EA"/>
                    </a:solidFill>
                  </a:tcPr>
                </a:tc>
                <a:tc>
                  <a:txBody>
                    <a:bodyPr/>
                    <a:lstStyle/>
                    <a:p>
                      <a:pPr algn="l" indent="0" marL="0">
                        <a:buNone/>
                      </a:pPr>
                      <a:endParaRPr lang="en-US" sz="1350" dirty="0">
                        <a:latin typeface="Yu Gothic" charset="0"/>
                        <a:ea typeface="Yu Gothic" charset="0"/>
                        <a:cs typeface="Yu Gothic" charset="0"/>
                      </a:endParaRPr>
                    </a:p>
                  </a:txBody>
                  <a:tcPr marL="101600" marR="101600" marT="50800" marB="508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7F2EA"/>
                    </a:solidFill>
                  </a:tcPr>
                </a:tc>
              </a:tr>
              <a:tr h="658368">
                <a:tc>
                  <a:txBody>
                    <a:bodyPr/>
                    <a:lstStyle/>
                    <a:p>
                      <a:pPr algn="l" indent="0" marL="0">
                        <a:buNone/>
                      </a:pPr>
                      <a:r>
                        <a:rPr lang="en-US" sz="1500" b="1" dirty="0">
                          <a:solidFill>
                            <a:srgbClr val="222222"/>
                          </a:solidFill>
                          <a:latin typeface="Yu Gothic" pitchFamily="34" charset="0"/>
                          <a:ea typeface="Yu Gothic" pitchFamily="34" charset="-122"/>
                          <a:cs typeface="Yu Gothic" pitchFamily="34" charset="-120"/>
                        </a:rPr>
                        <a:t>EMARF</a:t>
                      </a:r>
                      <a:endParaRPr lang="en-US" sz="1500" dirty="0">
                        <a:latin typeface="Yu Gothic" charset="0"/>
                        <a:ea typeface="Yu Gothic" charset="0"/>
                        <a:cs typeface="Yu Gothic" charset="0"/>
                      </a:endParaRPr>
                    </a:p>
                  </a:txBody>
                  <a:tcPr marL="101600" marR="101600" marT="50800" marB="508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FFFFF"/>
                    </a:solidFill>
                  </a:tcPr>
                </a:tc>
                <a:tc>
                  <a:txBody>
                    <a:bodyPr/>
                    <a:lstStyle/>
                    <a:p>
                      <a:pPr algn="l" indent="0" marL="0">
                        <a:buNone/>
                      </a:pPr>
                      <a:r>
                        <a:rPr lang="en-US" sz="1350" dirty="0">
                          <a:solidFill>
                            <a:srgbClr val="707070"/>
                          </a:solidFill>
                          <a:latin typeface="Yu Gothic" pitchFamily="34" charset="0"/>
                          <a:ea typeface="Yu Gothic" pitchFamily="34" charset="-122"/>
                          <a:cs typeface="Yu Gothic" pitchFamily="34" charset="-120"/>
                        </a:rPr>
                        <a:t>戸倉・COCO</a:t>
                      </a:r>
                      <a:endParaRPr lang="en-US" sz="1350" dirty="0">
                        <a:latin typeface="Yu Gothic" charset="0"/>
                        <a:ea typeface="Yu Gothic" charset="0"/>
                        <a:cs typeface="Yu Gothic" charset="0"/>
                      </a:endParaRPr>
                    </a:p>
                  </a:txBody>
                  <a:tcPr marL="101600" marR="101600" marT="50800" marB="508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FFFFF"/>
                    </a:solidFill>
                  </a:tcPr>
                </a:tc>
                <a:tc>
                  <a:txBody>
                    <a:bodyPr/>
                    <a:lstStyle/>
                    <a:p>
                      <a:pPr algn="l" indent="0" marL="0">
                        <a:buNone/>
                      </a:pPr>
                      <a:r>
                        <a:rPr lang="en-US" sz="1350" b="1" dirty="0">
                          <a:solidFill>
                            <a:srgbClr val="B8772E"/>
                          </a:solidFill>
                          <a:latin typeface="Yu Gothic" pitchFamily="34" charset="0"/>
                          <a:ea typeface="Yu Gothic" pitchFamily="34" charset="-122"/>
                          <a:cs typeface="Yu Gothic" pitchFamily="34" charset="-120"/>
                        </a:rPr>
                        <a:t>★ 要検討</a:t>
                      </a:r>
                      <a:endParaRPr lang="en-US" sz="1350" dirty="0">
                        <a:latin typeface="Yu Gothic" charset="0"/>
                        <a:ea typeface="Yu Gothic" charset="0"/>
                        <a:cs typeface="Yu Gothic" charset="0"/>
                      </a:endParaRPr>
                    </a:p>
                  </a:txBody>
                  <a:tcPr marL="101600" marR="101600" marT="50800" marB="508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FFFFF"/>
                    </a:solidFill>
                  </a:tcPr>
                </a:tc>
              </a:tr>
              <a:tr h="658368">
                <a:tc>
                  <a:txBody>
                    <a:bodyPr/>
                    <a:lstStyle/>
                    <a:p>
                      <a:pPr algn="l" indent="0" marL="0">
                        <a:buNone/>
                      </a:pPr>
                      <a:r>
                        <a:rPr lang="en-US" sz="1500" b="1" dirty="0">
                          <a:solidFill>
                            <a:srgbClr val="222222"/>
                          </a:solidFill>
                          <a:latin typeface="Yu Gothic" pitchFamily="34" charset="0"/>
                          <a:ea typeface="Yu Gothic" pitchFamily="34" charset="-122"/>
                          <a:cs typeface="Yu Gothic" pitchFamily="34" charset="-120"/>
                        </a:rPr>
                        <a:t>製材機・乾燥機</a:t>
                      </a:r>
                      <a:endParaRPr lang="en-US" sz="1500" dirty="0">
                        <a:latin typeface="Yu Gothic" charset="0"/>
                        <a:ea typeface="Yu Gothic" charset="0"/>
                        <a:cs typeface="Yu Gothic" charset="0"/>
                      </a:endParaRPr>
                    </a:p>
                  </a:txBody>
                  <a:tcPr marL="101600" marR="101600" marT="50800" marB="508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7F2EA"/>
                    </a:solidFill>
                  </a:tcPr>
                </a:tc>
                <a:tc>
                  <a:txBody>
                    <a:bodyPr/>
                    <a:lstStyle/>
                    <a:p>
                      <a:pPr algn="l" indent="0" marL="0">
                        <a:buNone/>
                      </a:pPr>
                      <a:r>
                        <a:rPr lang="en-US" sz="1350" dirty="0">
                          <a:solidFill>
                            <a:srgbClr val="707070"/>
                          </a:solidFill>
                          <a:latin typeface="Yu Gothic" pitchFamily="34" charset="0"/>
                          <a:ea typeface="Yu Gothic" pitchFamily="34" charset="-122"/>
                          <a:cs typeface="Yu Gothic" pitchFamily="34" charset="-120"/>
                        </a:rPr>
                        <a:t>井上・すずこう</a:t>
                      </a:r>
                      <a:endParaRPr lang="en-US" sz="1350" dirty="0">
                        <a:latin typeface="Yu Gothic" charset="0"/>
                        <a:ea typeface="Yu Gothic" charset="0"/>
                        <a:cs typeface="Yu Gothic" charset="0"/>
                      </a:endParaRPr>
                    </a:p>
                  </a:txBody>
                  <a:tcPr marL="101600" marR="101600" marT="50800" marB="508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7F2EA"/>
                    </a:solidFill>
                  </a:tcPr>
                </a:tc>
                <a:tc>
                  <a:txBody>
                    <a:bodyPr/>
                    <a:lstStyle/>
                    <a:p>
                      <a:pPr algn="l" indent="0" marL="0">
                        <a:buNone/>
                      </a:pPr>
                      <a:r>
                        <a:rPr lang="en-US" sz="1350" b="1" dirty="0">
                          <a:solidFill>
                            <a:srgbClr val="B8772E"/>
                          </a:solidFill>
                          <a:latin typeface="Yu Gothic" pitchFamily="34" charset="0"/>
                          <a:ea typeface="Yu Gothic" pitchFamily="34" charset="-122"/>
                          <a:cs typeface="Yu Gothic" pitchFamily="34" charset="-120"/>
                        </a:rPr>
                        <a:t>準備中</a:t>
                      </a:r>
                      <a:endParaRPr lang="en-US" sz="1350" dirty="0">
                        <a:latin typeface="Yu Gothic" charset="0"/>
                        <a:ea typeface="Yu Gothic" charset="0"/>
                        <a:cs typeface="Yu Gothic" charset="0"/>
                      </a:endParaRPr>
                    </a:p>
                  </a:txBody>
                  <a:tcPr marL="101600" marR="101600" marT="50800" marB="508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7F2EA"/>
                    </a:solidFill>
                  </a:tcPr>
                </a:tc>
              </a:tr>
              <a:tr h="658368">
                <a:tc>
                  <a:txBody>
                    <a:bodyPr/>
                    <a:lstStyle/>
                    <a:p>
                      <a:pPr algn="l" indent="0" marL="0">
                        <a:buNone/>
                      </a:pPr>
                      <a:r>
                        <a:rPr lang="en-US" sz="1500" b="1" dirty="0">
                          <a:solidFill>
                            <a:srgbClr val="222222"/>
                          </a:solidFill>
                          <a:latin typeface="Yu Gothic" pitchFamily="34" charset="0"/>
                          <a:ea typeface="Yu Gothic" pitchFamily="34" charset="-122"/>
                          <a:cs typeface="Yu Gothic" pitchFamily="34" charset="-120"/>
                        </a:rPr>
                        <a:t>テンプレ（NESTING的）</a:t>
                      </a:r>
                      <a:endParaRPr lang="en-US" sz="1500" dirty="0">
                        <a:latin typeface="Yu Gothic" charset="0"/>
                        <a:ea typeface="Yu Gothic" charset="0"/>
                        <a:cs typeface="Yu Gothic" charset="0"/>
                      </a:endParaRPr>
                    </a:p>
                  </a:txBody>
                  <a:tcPr marL="101600" marR="101600" marT="50800" marB="508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FFFFF"/>
                    </a:solidFill>
                  </a:tcPr>
                </a:tc>
                <a:tc>
                  <a:txBody>
                    <a:bodyPr/>
                    <a:lstStyle/>
                    <a:p>
                      <a:pPr algn="l" indent="0" marL="0">
                        <a:buNone/>
                      </a:pPr>
                      <a:r>
                        <a:rPr lang="en-US" sz="1350" dirty="0">
                          <a:solidFill>
                            <a:srgbClr val="707070"/>
                          </a:solidFill>
                          <a:latin typeface="Yu Gothic" pitchFamily="34" charset="0"/>
                          <a:ea typeface="Yu Gothic" pitchFamily="34" charset="-122"/>
                          <a:cs typeface="Yu Gothic" pitchFamily="34" charset="-120"/>
                        </a:rPr>
                        <a:t>戸倉</a:t>
                      </a:r>
                      <a:endParaRPr lang="en-US" sz="1350" dirty="0">
                        <a:latin typeface="Yu Gothic" charset="0"/>
                        <a:ea typeface="Yu Gothic" charset="0"/>
                        <a:cs typeface="Yu Gothic" charset="0"/>
                      </a:endParaRPr>
                    </a:p>
                  </a:txBody>
                  <a:tcPr marL="101600" marR="101600" marT="50800" marB="508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FFFFF"/>
                    </a:solidFill>
                  </a:tcPr>
                </a:tc>
                <a:tc>
                  <a:txBody>
                    <a:bodyPr/>
                    <a:lstStyle/>
                    <a:p>
                      <a:pPr algn="l" indent="0" marL="0">
                        <a:buNone/>
                      </a:pPr>
                      <a:r>
                        <a:rPr lang="en-US" sz="1350" b="1" dirty="0">
                          <a:solidFill>
                            <a:srgbClr val="B8772E"/>
                          </a:solidFill>
                          <a:latin typeface="Yu Gothic" pitchFamily="34" charset="0"/>
                          <a:ea typeface="Yu Gothic" pitchFamily="34" charset="-122"/>
                          <a:cs typeface="Yu Gothic" pitchFamily="34" charset="-120"/>
                        </a:rPr>
                        <a:t>案</a:t>
                      </a:r>
                      <a:endParaRPr lang="en-US" sz="1350" dirty="0">
                        <a:latin typeface="Yu Gothic" charset="0"/>
                        <a:ea typeface="Yu Gothic" charset="0"/>
                        <a:cs typeface="Yu Gothic" charset="0"/>
                      </a:endParaRPr>
                    </a:p>
                  </a:txBody>
                  <a:tcPr marL="101600" marR="101600" marT="50800" marB="508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FFFFF"/>
                    </a:solidFill>
                  </a:tcPr>
                </a:tc>
              </a:tr>
            </a:tbl>
          </a:graphicData>
        </a:graphic>
      </p:graphicFrame>
      <p:sp>
        <p:nvSpPr>
          <p:cNvPr id="7" name="Text 4"/>
          <p:cNvSpPr/>
          <p:nvPr/>
        </p:nvSpPr>
        <p:spPr>
          <a:xfrm>
            <a:off x="841248" y="6400800"/>
            <a:ext cx="7315200" cy="274320"/>
          </a:xfrm>
          <a:prstGeom prst="rect">
            <a:avLst/>
          </a:prstGeom>
          <a:noFill/>
          <a:ln/>
        </p:spPr>
        <p:txBody>
          <a:bodyPr wrap="square" lIns="0" tIns="0" rIns="0" bIns="0" rtlCol="0" anchor="t"/>
          <a:lstStyle/>
          <a:p>
            <a:pPr indent="0" marL="0">
              <a:buNone/>
            </a:pPr>
            <a:r>
              <a:rPr lang="en-US" sz="900" dirty="0">
                <a:solidFill>
                  <a:srgbClr val="A8A8A8"/>
                </a:solidFill>
                <a:latin typeface="Yu Gothic" pitchFamily="34" charset="0"/>
                <a:ea typeface="Yu Gothic" pitchFamily="34" charset="-122"/>
                <a:cs typeface="Yu Gothic" pitchFamily="34" charset="-120"/>
              </a:rPr>
              <a:t>Incubation Team OKR ・ リーダー定例 2026-06-28</a:t>
            </a:r>
            <a:endParaRPr lang="en-US" sz="900" dirty="0"/>
          </a:p>
        </p:txBody>
      </p:sp>
      <p:sp>
        <p:nvSpPr>
          <p:cNvPr id="8" name="Text 5"/>
          <p:cNvSpPr/>
          <p:nvPr/>
        </p:nvSpPr>
        <p:spPr>
          <a:xfrm>
            <a:off x="10436047" y="6400800"/>
            <a:ext cx="914400" cy="274320"/>
          </a:xfrm>
          <a:prstGeom prst="rect">
            <a:avLst/>
          </a:prstGeom>
          <a:noFill/>
          <a:ln/>
        </p:spPr>
        <p:txBody>
          <a:bodyPr wrap="square" lIns="0" tIns="0" rIns="0" bIns="0" rtlCol="0" anchor="t"/>
          <a:lstStyle/>
          <a:p>
            <a:pPr algn="r" indent="0" marL="0">
              <a:buNone/>
            </a:pPr>
            <a:r>
              <a:rPr lang="en-US" sz="900" dirty="0">
                <a:solidFill>
                  <a:srgbClr val="A8A8A8"/>
                </a:solidFill>
                <a:latin typeface="Yu Gothic" pitchFamily="34" charset="0"/>
                <a:ea typeface="Yu Gothic" pitchFamily="34" charset="-122"/>
                <a:cs typeface="Yu Gothic"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DFCFA"/>
        </a:solidFill>
      </p:bgPr>
    </p:bg>
    <p:spTree>
      <p:nvGrpSpPr>
        <p:cNvPr id="1" name=""/>
        <p:cNvGrpSpPr/>
        <p:nvPr/>
      </p:nvGrpSpPr>
      <p:grpSpPr>
        <a:xfrm>
          <a:off x="0" y="0"/>
          <a:ext cx="0" cy="0"/>
          <a:chOff x="0" y="0"/>
          <a:chExt cx="0" cy="0"/>
        </a:xfrm>
      </p:grpSpPr>
      <p:sp>
        <p:nvSpPr>
          <p:cNvPr id="2" name="Shape 0"/>
          <p:cNvSpPr/>
          <p:nvPr/>
        </p:nvSpPr>
        <p:spPr>
          <a:xfrm>
            <a:off x="841248" y="566928"/>
            <a:ext cx="384048" cy="77724"/>
          </a:xfrm>
          <a:prstGeom prst="rect">
            <a:avLst/>
          </a:prstGeom>
          <a:solidFill>
            <a:srgbClr val="B8772E"/>
          </a:solidFill>
          <a:ln/>
        </p:spPr>
      </p:sp>
      <p:sp>
        <p:nvSpPr>
          <p:cNvPr id="3" name="Text 1"/>
          <p:cNvSpPr/>
          <p:nvPr/>
        </p:nvSpPr>
        <p:spPr>
          <a:xfrm>
            <a:off x="841248" y="731520"/>
            <a:ext cx="10509199" cy="365760"/>
          </a:xfrm>
          <a:prstGeom prst="rect">
            <a:avLst/>
          </a:prstGeom>
          <a:noFill/>
          <a:ln/>
        </p:spPr>
        <p:txBody>
          <a:bodyPr wrap="square" lIns="0" tIns="0" rIns="0" bIns="0" rtlCol="0" anchor="t"/>
          <a:lstStyle/>
          <a:p>
            <a:pPr indent="0" marL="0">
              <a:buNone/>
            </a:pPr>
            <a:r>
              <a:rPr lang="en-US" sz="1350" b="1" dirty="0">
                <a:solidFill>
                  <a:srgbClr val="B8772E"/>
                </a:solidFill>
                <a:latin typeface="Yu Gothic" pitchFamily="34" charset="0"/>
                <a:ea typeface="Yu Gothic" pitchFamily="34" charset="-122"/>
                <a:cs typeface="Yu Gothic" pitchFamily="34" charset="-120"/>
              </a:rPr>
              <a:t>Q4 ｜ 論点</a:t>
            </a:r>
            <a:endParaRPr lang="en-US" sz="1350" dirty="0"/>
          </a:p>
        </p:txBody>
      </p:sp>
      <p:sp>
        <p:nvSpPr>
          <p:cNvPr id="4" name="Text 2"/>
          <p:cNvSpPr/>
          <p:nvPr/>
        </p:nvSpPr>
        <p:spPr>
          <a:xfrm>
            <a:off x="841248" y="1078992"/>
            <a:ext cx="10509199" cy="868680"/>
          </a:xfrm>
          <a:prstGeom prst="rect">
            <a:avLst/>
          </a:prstGeom>
          <a:noFill/>
          <a:ln/>
        </p:spPr>
        <p:txBody>
          <a:bodyPr wrap="square" lIns="0" tIns="0" rIns="0" bIns="0" rtlCol="0" anchor="t"/>
          <a:lstStyle/>
          <a:p>
            <a:pPr indent="0" marL="0">
              <a:lnSpc>
                <a:spcPct val="105000"/>
              </a:lnSpc>
              <a:buNone/>
            </a:pPr>
            <a:r>
              <a:rPr lang="en-US" sz="2800" b="1" dirty="0">
                <a:solidFill>
                  <a:srgbClr val="222222"/>
                </a:solidFill>
                <a:latin typeface="Yu Gothic" pitchFamily="34" charset="0"/>
                <a:ea typeface="Yu Gothic" pitchFamily="34" charset="-122"/>
                <a:cs typeface="Yu Gothic" pitchFamily="34" charset="-120"/>
              </a:rPr>
              <a:t>地域クリエイター拠点の「定義」（検討中）</a:t>
            </a:r>
            <a:endParaRPr lang="en-US" sz="2800" dirty="0"/>
          </a:p>
        </p:txBody>
      </p:sp>
      <p:sp>
        <p:nvSpPr>
          <p:cNvPr id="5" name="Shape 3"/>
          <p:cNvSpPr/>
          <p:nvPr/>
        </p:nvSpPr>
        <p:spPr>
          <a:xfrm>
            <a:off x="841248" y="2240280"/>
            <a:ext cx="5120640" cy="3200400"/>
          </a:xfrm>
          <a:prstGeom prst="rect">
            <a:avLst/>
          </a:prstGeom>
          <a:solidFill>
            <a:srgbClr val="F7F2EA"/>
          </a:solidFill>
          <a:ln w="12700">
            <a:solidFill>
              <a:srgbClr val="E4E1DC"/>
            </a:solidFill>
            <a:prstDash val="solid"/>
          </a:ln>
        </p:spPr>
      </p:sp>
      <p:sp>
        <p:nvSpPr>
          <p:cNvPr id="6" name="Text 4"/>
          <p:cNvSpPr/>
          <p:nvPr/>
        </p:nvSpPr>
        <p:spPr>
          <a:xfrm>
            <a:off x="1161288" y="2487168"/>
            <a:ext cx="4572000" cy="2834640"/>
          </a:xfrm>
          <a:prstGeom prst="rect">
            <a:avLst/>
          </a:prstGeom>
          <a:noFill/>
          <a:ln/>
        </p:spPr>
        <p:txBody>
          <a:bodyPr wrap="square" lIns="0" tIns="0" rIns="0" bIns="0" rtlCol="0" anchor="t"/>
          <a:lstStyle/>
          <a:p>
            <a:pPr indent="0" marL="0">
              <a:spcAft>
                <a:spcPts val="1000"/>
              </a:spcAft>
              <a:buNone/>
            </a:pPr>
            <a:r>
              <a:rPr lang="en-US" sz="1400" b="1" dirty="0">
                <a:solidFill>
                  <a:srgbClr val="B8772E"/>
                </a:solidFill>
                <a:latin typeface="Yu Gothic" pitchFamily="34" charset="0"/>
                <a:ea typeface="Yu Gothic" pitchFamily="34" charset="-122"/>
                <a:cs typeface="Yu Gothic" pitchFamily="34" charset="-120"/>
              </a:rPr>
              <a:t>定義の核</a:t>
            </a:r>
            <a:endParaRPr lang="en-US" sz="1400" dirty="0"/>
          </a:p>
          <a:p>
            <a:pPr indent="0" marL="0">
              <a:lnSpc>
                <a:spcPct val="130000"/>
              </a:lnSpc>
              <a:spcAft>
                <a:spcPts val="1000"/>
              </a:spcAft>
              <a:buNone/>
            </a:pPr>
            <a:r>
              <a:rPr lang="en-US" sz="1500" dirty="0">
                <a:solidFill>
                  <a:srgbClr val="222222"/>
                </a:solidFill>
                <a:latin typeface="Yu Gothic" pitchFamily="34" charset="0"/>
                <a:ea typeface="Yu Gothic" pitchFamily="34" charset="-122"/>
                <a:cs typeface="Yu Gothic" pitchFamily="34" charset="-120"/>
              </a:rPr>
              <a:t>★ シェア工房である</a:t>
            </a:r>
            <a:endParaRPr lang="en-US" sz="1400" dirty="0"/>
          </a:p>
          <a:p>
            <a:pPr indent="0" marL="0">
              <a:lnSpc>
                <a:spcPct val="130000"/>
              </a:lnSpc>
              <a:spcAft>
                <a:spcPts val="1000"/>
              </a:spcAft>
              <a:buNone/>
            </a:pPr>
            <a:r>
              <a:rPr lang="en-US" sz="1500" dirty="0">
                <a:solidFill>
                  <a:srgbClr val="222222"/>
                </a:solidFill>
                <a:latin typeface="Yu Gothic" pitchFamily="34" charset="0"/>
                <a:ea typeface="Yu Gothic" pitchFamily="34" charset="-122"/>
                <a:cs typeface="Yu Gothic" pitchFamily="34" charset="-120"/>
              </a:rPr>
              <a:t>★ エコシステムがある（メンバーコミュニティ）</a:t>
            </a:r>
            <a:endParaRPr lang="en-US" sz="1400" dirty="0"/>
          </a:p>
          <a:p>
            <a:pPr indent="0" marL="0">
              <a:lnSpc>
                <a:spcPct val="130000"/>
              </a:lnSpc>
              <a:buNone/>
            </a:pPr>
            <a:r>
              <a:rPr lang="en-US" sz="1500" dirty="0">
                <a:solidFill>
                  <a:srgbClr val="222222"/>
                </a:solidFill>
                <a:latin typeface="Yu Gothic" pitchFamily="34" charset="0"/>
                <a:ea typeface="Yu Gothic" pitchFamily="34" charset="-122"/>
                <a:cs typeface="Yu Gothic" pitchFamily="34" charset="-120"/>
              </a:rPr>
              <a:t>★ TO C・地域住民へWS提供／ものづくりに触れる機会</a:t>
            </a:r>
            <a:endParaRPr lang="en-US" sz="1400" dirty="0"/>
          </a:p>
        </p:txBody>
      </p:sp>
      <p:sp>
        <p:nvSpPr>
          <p:cNvPr id="7" name="Text 5"/>
          <p:cNvSpPr/>
          <p:nvPr/>
        </p:nvSpPr>
        <p:spPr>
          <a:xfrm>
            <a:off x="6327648" y="2286000"/>
            <a:ext cx="5022799" cy="3108960"/>
          </a:xfrm>
          <a:prstGeom prst="rect">
            <a:avLst/>
          </a:prstGeom>
          <a:noFill/>
          <a:ln/>
        </p:spPr>
        <p:txBody>
          <a:bodyPr wrap="square" lIns="0" tIns="0" rIns="0" bIns="0" rtlCol="0" anchor="t"/>
          <a:lstStyle/>
          <a:p>
            <a:pPr indent="0" marL="0">
              <a:spcAft>
                <a:spcPts val="1000"/>
              </a:spcAft>
              <a:buNone/>
            </a:pPr>
            <a:r>
              <a:rPr lang="en-US" sz="1400" b="1" dirty="0">
                <a:solidFill>
                  <a:srgbClr val="B8772E"/>
                </a:solidFill>
                <a:latin typeface="Yu Gothic" pitchFamily="34" charset="0"/>
                <a:ea typeface="Yu Gothic" pitchFamily="34" charset="-122"/>
                <a:cs typeface="Yu Gothic" pitchFamily="34" charset="-120"/>
              </a:rPr>
              <a:t>スタンス・論点</a:t>
            </a:r>
            <a:endParaRPr lang="en-US" sz="1400" dirty="0"/>
          </a:p>
          <a:p>
            <a:pPr indent="0" marL="0">
              <a:lnSpc>
                <a:spcPct val="128000"/>
              </a:lnSpc>
              <a:spcAft>
                <a:spcPts val="900"/>
              </a:spcAft>
              <a:buNone/>
            </a:pPr>
            <a:r>
              <a:rPr lang="en-US" sz="1400" dirty="0">
                <a:solidFill>
                  <a:srgbClr val="222222"/>
                </a:solidFill>
                <a:latin typeface="Yu Gothic" pitchFamily="34" charset="0"/>
                <a:ea typeface="Yu Gothic" pitchFamily="34" charset="-122"/>
                <a:cs typeface="Yu Gothic" pitchFamily="34" charset="-120"/>
              </a:rPr>
              <a:t>・ 工房をオープンにしている（WS実施）とわかりやすい</a:t>
            </a:r>
            <a:endParaRPr lang="en-US" sz="1400" dirty="0"/>
          </a:p>
          <a:p>
            <a:pPr indent="0" marL="0">
              <a:lnSpc>
                <a:spcPct val="128000"/>
              </a:lnSpc>
              <a:spcAft>
                <a:spcPts val="900"/>
              </a:spcAft>
              <a:buNone/>
            </a:pPr>
            <a:r>
              <a:rPr lang="en-US" sz="1400" dirty="0">
                <a:solidFill>
                  <a:srgbClr val="222222"/>
                </a:solidFill>
                <a:latin typeface="Yu Gothic" pitchFamily="34" charset="0"/>
                <a:ea typeface="Yu Gothic" pitchFamily="34" charset="-122"/>
                <a:cs typeface="Yu Gothic" pitchFamily="34" charset="-120"/>
              </a:rPr>
              <a:t>・ 地域を面白くする・インキュベートする人がいる状態</a:t>
            </a:r>
            <a:endParaRPr lang="en-US" sz="1400" dirty="0"/>
          </a:p>
          <a:p>
            <a:pPr indent="0" marL="0">
              <a:lnSpc>
                <a:spcPct val="128000"/>
              </a:lnSpc>
              <a:spcAft>
                <a:spcPts val="900"/>
              </a:spcAft>
              <a:buNone/>
            </a:pPr>
            <a:r>
              <a:rPr lang="en-US" sz="1400" dirty="0">
                <a:solidFill>
                  <a:srgbClr val="222222"/>
                </a:solidFill>
                <a:latin typeface="Yu Gothic" pitchFamily="34" charset="0"/>
                <a:ea typeface="Yu Gothic" pitchFamily="34" charset="-122"/>
                <a:cs typeface="Yu Gothic" pitchFamily="34" charset="-120"/>
              </a:rPr>
              <a:t>・ 半クローズの拠点もある → ジャンル分けが必要？</a:t>
            </a:r>
            <a:endParaRPr lang="en-US" sz="1400" dirty="0"/>
          </a:p>
          <a:p>
            <a:pPr indent="0" marL="0">
              <a:lnSpc>
                <a:spcPct val="128000"/>
              </a:lnSpc>
              <a:buNone/>
            </a:pPr>
            <a:r>
              <a:rPr lang="en-US" sz="1400" dirty="0">
                <a:solidFill>
                  <a:srgbClr val="222222"/>
                </a:solidFill>
                <a:latin typeface="Yu Gothic" pitchFamily="34" charset="0"/>
                <a:ea typeface="Yu Gothic" pitchFamily="34" charset="-122"/>
                <a:cs typeface="Yu Gothic" pitchFamily="34" charset="-120"/>
              </a:rPr>
              <a:t>・ 拠点側のメリットは？（要検討）</a:t>
            </a:r>
            <a:endParaRPr lang="en-US" sz="1400" dirty="0"/>
          </a:p>
        </p:txBody>
      </p:sp>
      <p:sp>
        <p:nvSpPr>
          <p:cNvPr id="8" name="Text 6"/>
          <p:cNvSpPr/>
          <p:nvPr/>
        </p:nvSpPr>
        <p:spPr>
          <a:xfrm>
            <a:off x="841248" y="5532120"/>
            <a:ext cx="10509199" cy="457200"/>
          </a:xfrm>
          <a:prstGeom prst="rect">
            <a:avLst/>
          </a:prstGeom>
          <a:noFill/>
          <a:ln/>
        </p:spPr>
        <p:txBody>
          <a:bodyPr wrap="square" lIns="0" tIns="0" rIns="0" bIns="0" rtlCol="0" anchor="t"/>
          <a:lstStyle/>
          <a:p>
            <a:pPr indent="0" marL="0">
              <a:lnSpc>
                <a:spcPct val="120000"/>
              </a:lnSpc>
              <a:buNone/>
            </a:pPr>
            <a:r>
              <a:rPr lang="en-US" sz="1050" dirty="0">
                <a:solidFill>
                  <a:srgbClr val="A8A8A8"/>
                </a:solidFill>
                <a:latin typeface="Yu Gothic" pitchFamily="34" charset="0"/>
                <a:ea typeface="Yu Gothic" pitchFamily="34" charset="-122"/>
                <a:cs typeface="Yu Gothic" pitchFamily="34" charset="-120"/>
              </a:rPr>
              <a:t>候補：松川Pukto／FabLab南小国／花巻／久米製材／Andforest／森町／上松／新庄村／DIYSTUDIO／太宰府／カインズ／小菅村／iti-setouchi　ほか</a:t>
            </a:r>
            <a:endParaRPr lang="en-US" sz="1050" dirty="0"/>
          </a:p>
        </p:txBody>
      </p:sp>
      <p:sp>
        <p:nvSpPr>
          <p:cNvPr id="9" name="Text 7"/>
          <p:cNvSpPr/>
          <p:nvPr/>
        </p:nvSpPr>
        <p:spPr>
          <a:xfrm>
            <a:off x="841248" y="6400800"/>
            <a:ext cx="7315200" cy="274320"/>
          </a:xfrm>
          <a:prstGeom prst="rect">
            <a:avLst/>
          </a:prstGeom>
          <a:noFill/>
          <a:ln/>
        </p:spPr>
        <p:txBody>
          <a:bodyPr wrap="square" lIns="0" tIns="0" rIns="0" bIns="0" rtlCol="0" anchor="t"/>
          <a:lstStyle/>
          <a:p>
            <a:pPr indent="0" marL="0">
              <a:buNone/>
            </a:pPr>
            <a:r>
              <a:rPr lang="en-US" sz="900" dirty="0">
                <a:solidFill>
                  <a:srgbClr val="A8A8A8"/>
                </a:solidFill>
                <a:latin typeface="Yu Gothic" pitchFamily="34" charset="0"/>
                <a:ea typeface="Yu Gothic" pitchFamily="34" charset="-122"/>
                <a:cs typeface="Yu Gothic" pitchFamily="34" charset="-120"/>
              </a:rPr>
              <a:t>Incubation Team OKR ・ リーダー定例 2026-06-28</a:t>
            </a:r>
            <a:endParaRPr lang="en-US" sz="900" dirty="0"/>
          </a:p>
        </p:txBody>
      </p:sp>
      <p:sp>
        <p:nvSpPr>
          <p:cNvPr id="10" name="Text 8"/>
          <p:cNvSpPr/>
          <p:nvPr/>
        </p:nvSpPr>
        <p:spPr>
          <a:xfrm>
            <a:off x="10436047" y="6400800"/>
            <a:ext cx="914400" cy="274320"/>
          </a:xfrm>
          <a:prstGeom prst="rect">
            <a:avLst/>
          </a:prstGeom>
          <a:noFill/>
          <a:ln/>
        </p:spPr>
        <p:txBody>
          <a:bodyPr wrap="square" lIns="0" tIns="0" rIns="0" bIns="0" rtlCol="0" anchor="t"/>
          <a:lstStyle/>
          <a:p>
            <a:pPr algn="r" indent="0" marL="0">
              <a:buNone/>
            </a:pPr>
            <a:r>
              <a:rPr lang="en-US" sz="900" dirty="0">
                <a:solidFill>
                  <a:srgbClr val="A8A8A8"/>
                </a:solidFill>
                <a:latin typeface="Yu Gothic" pitchFamily="34" charset="0"/>
                <a:ea typeface="Yu Gothic" pitchFamily="34" charset="-122"/>
                <a:cs typeface="Yu Gothic"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DFCFA"/>
        </a:solidFill>
      </p:bgPr>
    </p:bg>
    <p:spTree>
      <p:nvGrpSpPr>
        <p:cNvPr id="1" name=""/>
        <p:cNvGrpSpPr/>
        <p:nvPr/>
      </p:nvGrpSpPr>
      <p:grpSpPr>
        <a:xfrm>
          <a:off x="0" y="0"/>
          <a:ext cx="0" cy="0"/>
          <a:chOff x="0" y="0"/>
          <a:chExt cx="0" cy="0"/>
        </a:xfrm>
      </p:grpSpPr>
      <p:sp>
        <p:nvSpPr>
          <p:cNvPr id="2" name="Shape 0"/>
          <p:cNvSpPr/>
          <p:nvPr/>
        </p:nvSpPr>
        <p:spPr>
          <a:xfrm>
            <a:off x="841248" y="566928"/>
            <a:ext cx="384048" cy="77724"/>
          </a:xfrm>
          <a:prstGeom prst="rect">
            <a:avLst/>
          </a:prstGeom>
          <a:solidFill>
            <a:srgbClr val="B8772E"/>
          </a:solidFill>
          <a:ln/>
        </p:spPr>
      </p:sp>
      <p:sp>
        <p:nvSpPr>
          <p:cNvPr id="3" name="Text 1"/>
          <p:cNvSpPr/>
          <p:nvPr/>
        </p:nvSpPr>
        <p:spPr>
          <a:xfrm>
            <a:off x="841248" y="731520"/>
            <a:ext cx="10509199" cy="365760"/>
          </a:xfrm>
          <a:prstGeom prst="rect">
            <a:avLst/>
          </a:prstGeom>
          <a:noFill/>
          <a:ln/>
        </p:spPr>
        <p:txBody>
          <a:bodyPr wrap="square" lIns="0" tIns="0" rIns="0" bIns="0" rtlCol="0" anchor="t"/>
          <a:lstStyle/>
          <a:p>
            <a:pPr indent="0" marL="0">
              <a:buNone/>
            </a:pPr>
            <a:r>
              <a:rPr lang="en-US" sz="1350" b="1" dirty="0">
                <a:solidFill>
                  <a:srgbClr val="B8772E"/>
                </a:solidFill>
                <a:latin typeface="Yu Gothic" pitchFamily="34" charset="0"/>
                <a:ea typeface="Yu Gothic" pitchFamily="34" charset="-122"/>
                <a:cs typeface="Yu Gothic" pitchFamily="34" charset="-120"/>
              </a:rPr>
              <a:t>まとめ ｜ ネクストアクション</a:t>
            </a:r>
            <a:endParaRPr lang="en-US" sz="1350" dirty="0"/>
          </a:p>
        </p:txBody>
      </p:sp>
      <p:sp>
        <p:nvSpPr>
          <p:cNvPr id="4" name="Text 2"/>
          <p:cNvSpPr/>
          <p:nvPr/>
        </p:nvSpPr>
        <p:spPr>
          <a:xfrm>
            <a:off x="841248" y="1078992"/>
            <a:ext cx="10509199" cy="868680"/>
          </a:xfrm>
          <a:prstGeom prst="rect">
            <a:avLst/>
          </a:prstGeom>
          <a:noFill/>
          <a:ln/>
        </p:spPr>
        <p:txBody>
          <a:bodyPr wrap="square" lIns="0" tIns="0" rIns="0" bIns="0" rtlCol="0" anchor="t"/>
          <a:lstStyle/>
          <a:p>
            <a:pPr indent="0" marL="0">
              <a:lnSpc>
                <a:spcPct val="105000"/>
              </a:lnSpc>
              <a:buNone/>
            </a:pPr>
            <a:r>
              <a:rPr lang="en-US" sz="3000" b="1" dirty="0">
                <a:solidFill>
                  <a:srgbClr val="222222"/>
                </a:solidFill>
                <a:latin typeface="Yu Gothic" pitchFamily="34" charset="0"/>
                <a:ea typeface="Yu Gothic" pitchFamily="34" charset="-122"/>
                <a:cs typeface="Yu Gothic" pitchFamily="34" charset="-120"/>
              </a:rPr>
              <a:t>次に決める・動かすこと</a:t>
            </a:r>
            <a:endParaRPr lang="en-US" sz="3000" dirty="0"/>
          </a:p>
        </p:txBody>
      </p:sp>
      <p:sp>
        <p:nvSpPr>
          <p:cNvPr id="5" name="Shape 3"/>
          <p:cNvSpPr/>
          <p:nvPr/>
        </p:nvSpPr>
        <p:spPr>
          <a:xfrm>
            <a:off x="841248" y="2194560"/>
            <a:ext cx="10509199" cy="640080"/>
          </a:xfrm>
          <a:prstGeom prst="rect">
            <a:avLst/>
          </a:prstGeom>
          <a:solidFill>
            <a:srgbClr val="FFFFFF"/>
          </a:solidFill>
          <a:ln w="12700">
            <a:solidFill>
              <a:srgbClr val="E4E1DC"/>
            </a:solidFill>
            <a:prstDash val="solid"/>
          </a:ln>
        </p:spPr>
      </p:sp>
      <p:sp>
        <p:nvSpPr>
          <p:cNvPr id="6" name="Shape 4"/>
          <p:cNvSpPr/>
          <p:nvPr/>
        </p:nvSpPr>
        <p:spPr>
          <a:xfrm>
            <a:off x="1097280" y="2395728"/>
            <a:ext cx="237744" cy="237744"/>
          </a:xfrm>
          <a:prstGeom prst="rect">
            <a:avLst/>
          </a:prstGeom>
          <a:ln w="19050">
            <a:solidFill>
              <a:srgbClr val="B8772E"/>
            </a:solidFill>
            <a:prstDash val="solid"/>
          </a:ln>
        </p:spPr>
      </p:sp>
      <p:sp>
        <p:nvSpPr>
          <p:cNvPr id="7" name="Text 5"/>
          <p:cNvSpPr/>
          <p:nvPr/>
        </p:nvSpPr>
        <p:spPr>
          <a:xfrm>
            <a:off x="1554480" y="2194560"/>
            <a:ext cx="2286000" cy="640080"/>
          </a:xfrm>
          <a:prstGeom prst="rect">
            <a:avLst/>
          </a:prstGeom>
          <a:noFill/>
          <a:ln/>
        </p:spPr>
        <p:txBody>
          <a:bodyPr wrap="square" lIns="0" tIns="0" rIns="0" bIns="0" rtlCol="0" anchor="ctr"/>
          <a:lstStyle/>
          <a:p>
            <a:pPr indent="0" marL="0">
              <a:buNone/>
            </a:pPr>
            <a:r>
              <a:rPr lang="en-US" sz="1250" b="1" dirty="0">
                <a:solidFill>
                  <a:srgbClr val="B8772E"/>
                </a:solidFill>
                <a:latin typeface="Yu Gothic" pitchFamily="34" charset="0"/>
                <a:ea typeface="Yu Gothic" pitchFamily="34" charset="-122"/>
                <a:cs typeface="Yu Gothic" pitchFamily="34" charset="-120"/>
              </a:rPr>
              <a:t>KR2 / OS</a:t>
            </a:r>
            <a:endParaRPr lang="en-US" sz="1250" dirty="0"/>
          </a:p>
        </p:txBody>
      </p:sp>
      <p:sp>
        <p:nvSpPr>
          <p:cNvPr id="8" name="Text 6"/>
          <p:cNvSpPr/>
          <p:nvPr/>
        </p:nvSpPr>
        <p:spPr>
          <a:xfrm>
            <a:off x="3950208" y="2194560"/>
            <a:ext cx="7125919" cy="640080"/>
          </a:xfrm>
          <a:prstGeom prst="rect">
            <a:avLst/>
          </a:prstGeom>
          <a:noFill/>
          <a:ln/>
        </p:spPr>
        <p:txBody>
          <a:bodyPr wrap="square" lIns="0" tIns="0" rIns="0" bIns="0" rtlCol="0" anchor="ctr"/>
          <a:lstStyle/>
          <a:p>
            <a:pPr indent="0" marL="0">
              <a:lnSpc>
                <a:spcPct val="115000"/>
              </a:lnSpc>
              <a:buNone/>
            </a:pPr>
            <a:r>
              <a:rPr lang="en-US" sz="1500" dirty="0">
                <a:solidFill>
                  <a:srgbClr val="222222"/>
                </a:solidFill>
                <a:latin typeface="Yu Gothic" pitchFamily="34" charset="0"/>
                <a:ea typeface="Yu Gothic" pitchFamily="34" charset="-122"/>
                <a:cs typeface="Yu Gothic" pitchFamily="34" charset="-120"/>
              </a:rPr>
              <a:t>サポートボットの情報精度を改善する</a:t>
            </a:r>
            <a:endParaRPr lang="en-US" sz="1500" dirty="0"/>
          </a:p>
        </p:txBody>
      </p:sp>
      <p:sp>
        <p:nvSpPr>
          <p:cNvPr id="9" name="Shape 7"/>
          <p:cNvSpPr/>
          <p:nvPr/>
        </p:nvSpPr>
        <p:spPr>
          <a:xfrm>
            <a:off x="841248" y="2944368"/>
            <a:ext cx="10509199" cy="640080"/>
          </a:xfrm>
          <a:prstGeom prst="rect">
            <a:avLst/>
          </a:prstGeom>
          <a:solidFill>
            <a:srgbClr val="FFFFFF"/>
          </a:solidFill>
          <a:ln w="12700">
            <a:solidFill>
              <a:srgbClr val="E4E1DC"/>
            </a:solidFill>
            <a:prstDash val="solid"/>
          </a:ln>
        </p:spPr>
      </p:sp>
      <p:sp>
        <p:nvSpPr>
          <p:cNvPr id="10" name="Shape 8"/>
          <p:cNvSpPr/>
          <p:nvPr/>
        </p:nvSpPr>
        <p:spPr>
          <a:xfrm>
            <a:off x="1097280" y="3145536"/>
            <a:ext cx="237744" cy="237744"/>
          </a:xfrm>
          <a:prstGeom prst="rect">
            <a:avLst/>
          </a:prstGeom>
          <a:ln w="19050">
            <a:solidFill>
              <a:srgbClr val="B8772E"/>
            </a:solidFill>
            <a:prstDash val="solid"/>
          </a:ln>
        </p:spPr>
      </p:sp>
      <p:sp>
        <p:nvSpPr>
          <p:cNvPr id="11" name="Text 9"/>
          <p:cNvSpPr/>
          <p:nvPr/>
        </p:nvSpPr>
        <p:spPr>
          <a:xfrm>
            <a:off x="1554480" y="2944368"/>
            <a:ext cx="2286000" cy="640080"/>
          </a:xfrm>
          <a:prstGeom prst="rect">
            <a:avLst/>
          </a:prstGeom>
          <a:noFill/>
          <a:ln/>
        </p:spPr>
        <p:txBody>
          <a:bodyPr wrap="square" lIns="0" tIns="0" rIns="0" bIns="0" rtlCol="0" anchor="ctr"/>
          <a:lstStyle/>
          <a:p>
            <a:pPr indent="0" marL="0">
              <a:buNone/>
            </a:pPr>
            <a:r>
              <a:rPr lang="en-US" sz="1250" b="1" dirty="0">
                <a:solidFill>
                  <a:srgbClr val="B8772E"/>
                </a:solidFill>
                <a:latin typeface="Yu Gothic" pitchFamily="34" charset="0"/>
                <a:ea typeface="Yu Gothic" pitchFamily="34" charset="-122"/>
                <a:cs typeface="Yu Gothic" pitchFamily="34" charset="-120"/>
              </a:rPr>
              <a:t>KR2 / BIZ</a:t>
            </a:r>
            <a:endParaRPr lang="en-US" sz="1250" dirty="0"/>
          </a:p>
        </p:txBody>
      </p:sp>
      <p:sp>
        <p:nvSpPr>
          <p:cNvPr id="12" name="Text 10"/>
          <p:cNvSpPr/>
          <p:nvPr/>
        </p:nvSpPr>
        <p:spPr>
          <a:xfrm>
            <a:off x="3950208" y="2944368"/>
            <a:ext cx="7125919" cy="640080"/>
          </a:xfrm>
          <a:prstGeom prst="rect">
            <a:avLst/>
          </a:prstGeom>
          <a:noFill/>
          <a:ln/>
        </p:spPr>
        <p:txBody>
          <a:bodyPr wrap="square" lIns="0" tIns="0" rIns="0" bIns="0" rtlCol="0" anchor="ctr"/>
          <a:lstStyle/>
          <a:p>
            <a:pPr indent="0" marL="0">
              <a:lnSpc>
                <a:spcPct val="115000"/>
              </a:lnSpc>
              <a:buNone/>
            </a:pPr>
            <a:r>
              <a:rPr lang="en-US" sz="1500" dirty="0">
                <a:solidFill>
                  <a:srgbClr val="222222"/>
                </a:solidFill>
                <a:latin typeface="Yu Gothic" pitchFamily="34" charset="0"/>
                <a:ea typeface="Yu Gothic" pitchFamily="34" charset="-122"/>
                <a:cs typeface="Yu Gothic" pitchFamily="34" charset="-120"/>
              </a:rPr>
              <a:t>オーナー事例の集め方と、保存場所・フォーマット・ルールを確定</a:t>
            </a:r>
            <a:endParaRPr lang="en-US" sz="1500" dirty="0"/>
          </a:p>
        </p:txBody>
      </p:sp>
      <p:sp>
        <p:nvSpPr>
          <p:cNvPr id="13" name="Shape 11"/>
          <p:cNvSpPr/>
          <p:nvPr/>
        </p:nvSpPr>
        <p:spPr>
          <a:xfrm>
            <a:off x="841248" y="3694176"/>
            <a:ext cx="10509199" cy="640080"/>
          </a:xfrm>
          <a:prstGeom prst="rect">
            <a:avLst/>
          </a:prstGeom>
          <a:solidFill>
            <a:srgbClr val="FFFFFF"/>
          </a:solidFill>
          <a:ln w="12700">
            <a:solidFill>
              <a:srgbClr val="E4E1DC"/>
            </a:solidFill>
            <a:prstDash val="solid"/>
          </a:ln>
        </p:spPr>
      </p:sp>
      <p:sp>
        <p:nvSpPr>
          <p:cNvPr id="14" name="Shape 12"/>
          <p:cNvSpPr/>
          <p:nvPr/>
        </p:nvSpPr>
        <p:spPr>
          <a:xfrm>
            <a:off x="1097280" y="3895344"/>
            <a:ext cx="237744" cy="237744"/>
          </a:xfrm>
          <a:prstGeom prst="rect">
            <a:avLst/>
          </a:prstGeom>
          <a:ln w="19050">
            <a:solidFill>
              <a:srgbClr val="B8772E"/>
            </a:solidFill>
            <a:prstDash val="solid"/>
          </a:ln>
        </p:spPr>
      </p:sp>
      <p:sp>
        <p:nvSpPr>
          <p:cNvPr id="15" name="Text 13"/>
          <p:cNvSpPr/>
          <p:nvPr/>
        </p:nvSpPr>
        <p:spPr>
          <a:xfrm>
            <a:off x="1554480" y="3694176"/>
            <a:ext cx="2286000" cy="640080"/>
          </a:xfrm>
          <a:prstGeom prst="rect">
            <a:avLst/>
          </a:prstGeom>
          <a:noFill/>
          <a:ln/>
        </p:spPr>
        <p:txBody>
          <a:bodyPr wrap="square" lIns="0" tIns="0" rIns="0" bIns="0" rtlCol="0" anchor="ctr"/>
          <a:lstStyle/>
          <a:p>
            <a:pPr indent="0" marL="0">
              <a:buNone/>
            </a:pPr>
            <a:r>
              <a:rPr lang="en-US" sz="1250" b="1" dirty="0">
                <a:solidFill>
                  <a:srgbClr val="B8772E"/>
                </a:solidFill>
                <a:latin typeface="Yu Gothic" pitchFamily="34" charset="0"/>
                <a:ea typeface="Yu Gothic" pitchFamily="34" charset="-122"/>
                <a:cs typeface="Yu Gothic" pitchFamily="34" charset="-120"/>
              </a:rPr>
              <a:t>Platform / KR2</a:t>
            </a:r>
            <a:endParaRPr lang="en-US" sz="1250" dirty="0"/>
          </a:p>
        </p:txBody>
      </p:sp>
      <p:sp>
        <p:nvSpPr>
          <p:cNvPr id="16" name="Text 14"/>
          <p:cNvSpPr/>
          <p:nvPr/>
        </p:nvSpPr>
        <p:spPr>
          <a:xfrm>
            <a:off x="3950208" y="3694176"/>
            <a:ext cx="7125919" cy="640080"/>
          </a:xfrm>
          <a:prstGeom prst="rect">
            <a:avLst/>
          </a:prstGeom>
          <a:noFill/>
          <a:ln/>
        </p:spPr>
        <p:txBody>
          <a:bodyPr wrap="square" lIns="0" tIns="0" rIns="0" bIns="0" rtlCol="0" anchor="ctr"/>
          <a:lstStyle/>
          <a:p>
            <a:pPr indent="0" marL="0">
              <a:lnSpc>
                <a:spcPct val="115000"/>
              </a:lnSpc>
              <a:buNone/>
            </a:pPr>
            <a:r>
              <a:rPr lang="en-US" sz="1500" dirty="0">
                <a:solidFill>
                  <a:srgbClr val="222222"/>
                </a:solidFill>
                <a:latin typeface="Yu Gothic" pitchFamily="34" charset="0"/>
                <a:ea typeface="Yu Gothic" pitchFamily="34" charset="-122"/>
                <a:cs typeface="Yu Gothic" pitchFamily="34" charset="-120"/>
              </a:rPr>
              <a:t>地域クリエイター拠点の「定義」と「目標拠点数」を確定</a:t>
            </a:r>
            <a:endParaRPr lang="en-US" sz="1500" dirty="0"/>
          </a:p>
        </p:txBody>
      </p:sp>
      <p:sp>
        <p:nvSpPr>
          <p:cNvPr id="17" name="Shape 15"/>
          <p:cNvSpPr/>
          <p:nvPr/>
        </p:nvSpPr>
        <p:spPr>
          <a:xfrm>
            <a:off x="841248" y="4443984"/>
            <a:ext cx="10509199" cy="640080"/>
          </a:xfrm>
          <a:prstGeom prst="rect">
            <a:avLst/>
          </a:prstGeom>
          <a:solidFill>
            <a:srgbClr val="FFFFFF"/>
          </a:solidFill>
          <a:ln w="12700">
            <a:solidFill>
              <a:srgbClr val="E4E1DC"/>
            </a:solidFill>
            <a:prstDash val="solid"/>
          </a:ln>
        </p:spPr>
      </p:sp>
      <p:sp>
        <p:nvSpPr>
          <p:cNvPr id="18" name="Shape 16"/>
          <p:cNvSpPr/>
          <p:nvPr/>
        </p:nvSpPr>
        <p:spPr>
          <a:xfrm>
            <a:off x="1097280" y="4645152"/>
            <a:ext cx="237744" cy="237744"/>
          </a:xfrm>
          <a:prstGeom prst="rect">
            <a:avLst/>
          </a:prstGeom>
          <a:ln w="19050">
            <a:solidFill>
              <a:srgbClr val="B8772E"/>
            </a:solidFill>
            <a:prstDash val="solid"/>
          </a:ln>
        </p:spPr>
      </p:sp>
      <p:sp>
        <p:nvSpPr>
          <p:cNvPr id="19" name="Text 17"/>
          <p:cNvSpPr/>
          <p:nvPr/>
        </p:nvSpPr>
        <p:spPr>
          <a:xfrm>
            <a:off x="1554480" y="4443984"/>
            <a:ext cx="2286000" cy="640080"/>
          </a:xfrm>
          <a:prstGeom prst="rect">
            <a:avLst/>
          </a:prstGeom>
          <a:noFill/>
          <a:ln/>
        </p:spPr>
        <p:txBody>
          <a:bodyPr wrap="square" lIns="0" tIns="0" rIns="0" bIns="0" rtlCol="0" anchor="ctr"/>
          <a:lstStyle/>
          <a:p>
            <a:pPr indent="0" marL="0">
              <a:buNone/>
            </a:pPr>
            <a:r>
              <a:rPr lang="en-US" sz="1250" b="1" dirty="0">
                <a:solidFill>
                  <a:srgbClr val="B8772E"/>
                </a:solidFill>
                <a:latin typeface="Yu Gothic" pitchFamily="34" charset="0"/>
                <a:ea typeface="Yu Gothic" pitchFamily="34" charset="-122"/>
                <a:cs typeface="Yu Gothic" pitchFamily="34" charset="-120"/>
              </a:rPr>
              <a:t>Platform / B</a:t>
            </a:r>
            <a:endParaRPr lang="en-US" sz="1250" dirty="0"/>
          </a:p>
        </p:txBody>
      </p:sp>
      <p:sp>
        <p:nvSpPr>
          <p:cNvPr id="20" name="Text 18"/>
          <p:cNvSpPr/>
          <p:nvPr/>
        </p:nvSpPr>
        <p:spPr>
          <a:xfrm>
            <a:off x="3950208" y="4443984"/>
            <a:ext cx="7125919" cy="640080"/>
          </a:xfrm>
          <a:prstGeom prst="rect">
            <a:avLst/>
          </a:prstGeom>
          <a:noFill/>
          <a:ln/>
        </p:spPr>
        <p:txBody>
          <a:bodyPr wrap="square" lIns="0" tIns="0" rIns="0" bIns="0" rtlCol="0" anchor="ctr"/>
          <a:lstStyle/>
          <a:p>
            <a:pPr indent="0" marL="0">
              <a:lnSpc>
                <a:spcPct val="115000"/>
              </a:lnSpc>
              <a:buNone/>
            </a:pPr>
            <a:r>
              <a:rPr lang="en-US" sz="1500" dirty="0">
                <a:solidFill>
                  <a:srgbClr val="222222"/>
                </a:solidFill>
                <a:latin typeface="Yu Gothic" pitchFamily="34" charset="0"/>
                <a:ea typeface="Yu Gothic" pitchFamily="34" charset="-122"/>
                <a:cs typeface="Yu Gothic" pitchFamily="34" charset="-120"/>
              </a:rPr>
              <a:t>SB4・自動化のロードマップを別途相談（戸倉・中澤）</a:t>
            </a:r>
            <a:endParaRPr lang="en-US" sz="1500" dirty="0"/>
          </a:p>
        </p:txBody>
      </p:sp>
      <p:sp>
        <p:nvSpPr>
          <p:cNvPr id="21" name="Shape 19"/>
          <p:cNvSpPr/>
          <p:nvPr/>
        </p:nvSpPr>
        <p:spPr>
          <a:xfrm>
            <a:off x="841248" y="5193792"/>
            <a:ext cx="10509199" cy="640080"/>
          </a:xfrm>
          <a:prstGeom prst="rect">
            <a:avLst/>
          </a:prstGeom>
          <a:solidFill>
            <a:srgbClr val="FFFFFF"/>
          </a:solidFill>
          <a:ln w="12700">
            <a:solidFill>
              <a:srgbClr val="E4E1DC"/>
            </a:solidFill>
            <a:prstDash val="solid"/>
          </a:ln>
        </p:spPr>
      </p:sp>
      <p:sp>
        <p:nvSpPr>
          <p:cNvPr id="22" name="Shape 20"/>
          <p:cNvSpPr/>
          <p:nvPr/>
        </p:nvSpPr>
        <p:spPr>
          <a:xfrm>
            <a:off x="1097280" y="5394960"/>
            <a:ext cx="237744" cy="237744"/>
          </a:xfrm>
          <a:prstGeom prst="rect">
            <a:avLst/>
          </a:prstGeom>
          <a:ln w="19050">
            <a:solidFill>
              <a:srgbClr val="B8772E"/>
            </a:solidFill>
            <a:prstDash val="solid"/>
          </a:ln>
        </p:spPr>
      </p:sp>
      <p:sp>
        <p:nvSpPr>
          <p:cNvPr id="23" name="Text 21"/>
          <p:cNvSpPr/>
          <p:nvPr/>
        </p:nvSpPr>
        <p:spPr>
          <a:xfrm>
            <a:off x="1554480" y="5193792"/>
            <a:ext cx="2286000" cy="640080"/>
          </a:xfrm>
          <a:prstGeom prst="rect">
            <a:avLst/>
          </a:prstGeom>
          <a:noFill/>
          <a:ln/>
        </p:spPr>
        <p:txBody>
          <a:bodyPr wrap="square" lIns="0" tIns="0" rIns="0" bIns="0" rtlCol="0" anchor="ctr"/>
          <a:lstStyle/>
          <a:p>
            <a:pPr indent="0" marL="0">
              <a:buNone/>
            </a:pPr>
            <a:r>
              <a:rPr lang="en-US" sz="1250" b="1" dirty="0">
                <a:solidFill>
                  <a:srgbClr val="B8772E"/>
                </a:solidFill>
                <a:latin typeface="Yu Gothic" pitchFamily="34" charset="0"/>
                <a:ea typeface="Yu Gothic" pitchFamily="34" charset="-122"/>
                <a:cs typeface="Yu Gothic" pitchFamily="34" charset="-120"/>
              </a:rPr>
              <a:t>ShopBot＋</a:t>
            </a:r>
            <a:endParaRPr lang="en-US" sz="1250" dirty="0"/>
          </a:p>
        </p:txBody>
      </p:sp>
      <p:sp>
        <p:nvSpPr>
          <p:cNvPr id="24" name="Text 22"/>
          <p:cNvSpPr/>
          <p:nvPr/>
        </p:nvSpPr>
        <p:spPr>
          <a:xfrm>
            <a:off x="3950208" y="5193792"/>
            <a:ext cx="7125919" cy="640080"/>
          </a:xfrm>
          <a:prstGeom prst="rect">
            <a:avLst/>
          </a:prstGeom>
          <a:noFill/>
          <a:ln/>
        </p:spPr>
        <p:txBody>
          <a:bodyPr wrap="square" lIns="0" tIns="0" rIns="0" bIns="0" rtlCol="0" anchor="ctr"/>
          <a:lstStyle/>
          <a:p>
            <a:pPr indent="0" marL="0">
              <a:lnSpc>
                <a:spcPct val="115000"/>
              </a:lnSpc>
              <a:buNone/>
            </a:pPr>
            <a:r>
              <a:rPr lang="en-US" sz="1500" dirty="0">
                <a:solidFill>
                  <a:srgbClr val="222222"/>
                </a:solidFill>
                <a:latin typeface="Yu Gothic" pitchFamily="34" charset="0"/>
                <a:ea typeface="Yu Gothic" pitchFamily="34" charset="-122"/>
                <a:cs typeface="Yu Gothic" pitchFamily="34" charset="-120"/>
              </a:rPr>
              <a:t>EMARF まわりの方針を検討</a:t>
            </a:r>
            <a:endParaRPr lang="en-US" sz="1500" dirty="0"/>
          </a:p>
        </p:txBody>
      </p:sp>
      <p:sp>
        <p:nvSpPr>
          <p:cNvPr id="25" name="Text 23"/>
          <p:cNvSpPr/>
          <p:nvPr/>
        </p:nvSpPr>
        <p:spPr>
          <a:xfrm>
            <a:off x="841248" y="6400800"/>
            <a:ext cx="7315200" cy="274320"/>
          </a:xfrm>
          <a:prstGeom prst="rect">
            <a:avLst/>
          </a:prstGeom>
          <a:noFill/>
          <a:ln/>
        </p:spPr>
        <p:txBody>
          <a:bodyPr wrap="square" lIns="0" tIns="0" rIns="0" bIns="0" rtlCol="0" anchor="t"/>
          <a:lstStyle/>
          <a:p>
            <a:pPr indent="0" marL="0">
              <a:buNone/>
            </a:pPr>
            <a:r>
              <a:rPr lang="en-US" sz="900" dirty="0">
                <a:solidFill>
                  <a:srgbClr val="A8A8A8"/>
                </a:solidFill>
                <a:latin typeface="Yu Gothic" pitchFamily="34" charset="0"/>
                <a:ea typeface="Yu Gothic" pitchFamily="34" charset="-122"/>
                <a:cs typeface="Yu Gothic" pitchFamily="34" charset="-120"/>
              </a:rPr>
              <a:t>Incubation Team OKR ・ リーダー定例 2026-06-28</a:t>
            </a:r>
            <a:endParaRPr lang="en-US" sz="900" dirty="0"/>
          </a:p>
        </p:txBody>
      </p:sp>
      <p:sp>
        <p:nvSpPr>
          <p:cNvPr id="26" name="Text 24"/>
          <p:cNvSpPr/>
          <p:nvPr/>
        </p:nvSpPr>
        <p:spPr>
          <a:xfrm>
            <a:off x="10436047" y="6400800"/>
            <a:ext cx="914400" cy="274320"/>
          </a:xfrm>
          <a:prstGeom prst="rect">
            <a:avLst/>
          </a:prstGeom>
          <a:noFill/>
          <a:ln/>
        </p:spPr>
        <p:txBody>
          <a:bodyPr wrap="square" lIns="0" tIns="0" rIns="0" bIns="0" rtlCol="0" anchor="t"/>
          <a:lstStyle/>
          <a:p>
            <a:pPr algn="r" indent="0" marL="0">
              <a:buNone/>
            </a:pPr>
            <a:r>
              <a:rPr lang="en-US" sz="900" dirty="0">
                <a:solidFill>
                  <a:srgbClr val="A8A8A8"/>
                </a:solidFill>
                <a:latin typeface="Yu Gothic" pitchFamily="34" charset="0"/>
                <a:ea typeface="Yu Gothic" pitchFamily="34" charset="-122"/>
                <a:cs typeface="Yu Gothic"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DFCFA"/>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B8772E"/>
          </a:solidFill>
          <a:ln/>
        </p:spPr>
      </p:sp>
      <p:sp>
        <p:nvSpPr>
          <p:cNvPr id="3" name="Text 1"/>
          <p:cNvSpPr/>
          <p:nvPr/>
        </p:nvSpPr>
        <p:spPr>
          <a:xfrm>
            <a:off x="978408" y="1783080"/>
            <a:ext cx="9144000" cy="457200"/>
          </a:xfrm>
          <a:prstGeom prst="rect">
            <a:avLst/>
          </a:prstGeom>
          <a:noFill/>
          <a:ln/>
        </p:spPr>
        <p:txBody>
          <a:bodyPr wrap="square" lIns="0" tIns="0" rIns="0" bIns="0" rtlCol="0" anchor="t"/>
          <a:lstStyle/>
          <a:p>
            <a:pPr indent="0" marL="0">
              <a:buNone/>
            </a:pPr>
            <a:r>
              <a:rPr lang="en-US" sz="1500" b="1" dirty="0">
                <a:solidFill>
                  <a:srgbClr val="B8772E"/>
                </a:solidFill>
                <a:latin typeface="Yu Gothic" pitchFamily="34" charset="0"/>
                <a:ea typeface="Yu Gothic" pitchFamily="34" charset="-122"/>
                <a:cs typeface="Yu Gothic" pitchFamily="34" charset="-120"/>
              </a:rPr>
              <a:t>WHAT WE DO</a:t>
            </a:r>
            <a:endParaRPr lang="en-US" sz="1500" dirty="0"/>
          </a:p>
        </p:txBody>
      </p:sp>
      <p:sp>
        <p:nvSpPr>
          <p:cNvPr id="4" name="Text 2"/>
          <p:cNvSpPr/>
          <p:nvPr/>
        </p:nvSpPr>
        <p:spPr>
          <a:xfrm>
            <a:off x="978408" y="2331720"/>
            <a:ext cx="10424160" cy="1097280"/>
          </a:xfrm>
          <a:prstGeom prst="rect">
            <a:avLst/>
          </a:prstGeom>
          <a:noFill/>
          <a:ln/>
        </p:spPr>
        <p:txBody>
          <a:bodyPr wrap="square" lIns="0" tIns="0" rIns="0" bIns="0" rtlCol="0" anchor="t"/>
          <a:lstStyle/>
          <a:p>
            <a:pPr indent="0" marL="0">
              <a:lnSpc>
                <a:spcPct val="110000"/>
              </a:lnSpc>
              <a:buNone/>
            </a:pPr>
            <a:r>
              <a:rPr lang="en-US" sz="4000" b="1" dirty="0">
                <a:solidFill>
                  <a:srgbClr val="222222"/>
                </a:solidFill>
                <a:latin typeface="Yu Gothic" pitchFamily="34" charset="0"/>
                <a:ea typeface="Yu Gothic" pitchFamily="34" charset="-122"/>
                <a:cs typeface="Yu Gothic" pitchFamily="34" charset="-120"/>
              </a:rPr>
              <a:t>すべての人に、自由なものづくりを</a:t>
            </a:r>
            <a:endParaRPr lang="en-US" sz="4000" dirty="0"/>
          </a:p>
        </p:txBody>
      </p:sp>
      <p:sp>
        <p:nvSpPr>
          <p:cNvPr id="5" name="Shape 3"/>
          <p:cNvSpPr/>
          <p:nvPr/>
        </p:nvSpPr>
        <p:spPr>
          <a:xfrm>
            <a:off x="996696" y="3611880"/>
            <a:ext cx="1828800" cy="45720"/>
          </a:xfrm>
          <a:prstGeom prst="rect">
            <a:avLst/>
          </a:prstGeom>
          <a:solidFill>
            <a:srgbClr val="E4E1DC"/>
          </a:solidFill>
          <a:ln/>
        </p:spPr>
      </p:sp>
      <p:sp>
        <p:nvSpPr>
          <p:cNvPr id="6" name="Text 4"/>
          <p:cNvSpPr/>
          <p:nvPr/>
        </p:nvSpPr>
        <p:spPr>
          <a:xfrm>
            <a:off x="978408" y="3840480"/>
            <a:ext cx="9692640" cy="1371600"/>
          </a:xfrm>
          <a:prstGeom prst="rect">
            <a:avLst/>
          </a:prstGeom>
          <a:noFill/>
          <a:ln/>
        </p:spPr>
        <p:txBody>
          <a:bodyPr wrap="square" lIns="0" tIns="0" rIns="0" bIns="0" rtlCol="0" anchor="t"/>
          <a:lstStyle/>
          <a:p>
            <a:pPr indent="0" marL="0">
              <a:lnSpc>
                <a:spcPct val="140000"/>
              </a:lnSpc>
              <a:buNone/>
            </a:pPr>
            <a:r>
              <a:rPr lang="en-US" sz="1800" dirty="0">
                <a:solidFill>
                  <a:srgbClr val="707070"/>
                </a:solidFill>
                <a:latin typeface="Yu Gothic" pitchFamily="34" charset="0"/>
                <a:ea typeface="Yu Gothic" pitchFamily="34" charset="-122"/>
                <a:cs typeface="Yu Gothic" pitchFamily="34" charset="-120"/>
              </a:rPr>
              <a:t>道具・場・知識。その3つが揃ったとき、はじめて自由なものづくりが生まれる。</a:t>
            </a:r>
            <a:endParaRPr lang="en-US" sz="1800" dirty="0"/>
          </a:p>
          <a:p>
            <a:pPr indent="0" marL="0">
              <a:lnSpc>
                <a:spcPct val="140000"/>
              </a:lnSpc>
              <a:buNone/>
            </a:pPr>
            <a:r>
              <a:rPr lang="en-US" sz="1800" dirty="0">
                <a:solidFill>
                  <a:srgbClr val="707070"/>
                </a:solidFill>
                <a:latin typeface="Yu Gothic" pitchFamily="34" charset="0"/>
                <a:ea typeface="Yu Gothic" pitchFamily="34" charset="-122"/>
                <a:cs typeface="Yu Gothic" pitchFamily="34" charset="-120"/>
              </a:rPr>
              <a:t>VUILDはその環境ごと、設計する。</a:t>
            </a:r>
            <a:endParaRPr lang="en-US" sz="1800" dirty="0"/>
          </a:p>
        </p:txBody>
      </p:sp>
      <p:sp>
        <p:nvSpPr>
          <p:cNvPr id="7" name="Text 5"/>
          <p:cNvSpPr/>
          <p:nvPr/>
        </p:nvSpPr>
        <p:spPr>
          <a:xfrm>
            <a:off x="841248" y="6400800"/>
            <a:ext cx="7315200" cy="274320"/>
          </a:xfrm>
          <a:prstGeom prst="rect">
            <a:avLst/>
          </a:prstGeom>
          <a:noFill/>
          <a:ln/>
        </p:spPr>
        <p:txBody>
          <a:bodyPr wrap="square" lIns="0" tIns="0" rIns="0" bIns="0" rtlCol="0" anchor="t"/>
          <a:lstStyle/>
          <a:p>
            <a:pPr indent="0" marL="0">
              <a:buNone/>
            </a:pPr>
            <a:r>
              <a:rPr lang="en-US" sz="900" dirty="0">
                <a:solidFill>
                  <a:srgbClr val="A8A8A8"/>
                </a:solidFill>
                <a:latin typeface="Yu Gothic" pitchFamily="34" charset="0"/>
                <a:ea typeface="Yu Gothic" pitchFamily="34" charset="-122"/>
                <a:cs typeface="Yu Gothic" pitchFamily="34" charset="-120"/>
              </a:rPr>
              <a:t>Incubation Team OKR ・ リーダー定例 2026-06-28</a:t>
            </a:r>
            <a:endParaRPr lang="en-US" sz="900" dirty="0"/>
          </a:p>
        </p:txBody>
      </p:sp>
      <p:sp>
        <p:nvSpPr>
          <p:cNvPr id="8" name="Text 6"/>
          <p:cNvSpPr/>
          <p:nvPr/>
        </p:nvSpPr>
        <p:spPr>
          <a:xfrm>
            <a:off x="10436047" y="6400800"/>
            <a:ext cx="914400" cy="274320"/>
          </a:xfrm>
          <a:prstGeom prst="rect">
            <a:avLst/>
          </a:prstGeom>
          <a:noFill/>
          <a:ln/>
        </p:spPr>
        <p:txBody>
          <a:bodyPr wrap="square" lIns="0" tIns="0" rIns="0" bIns="0" rtlCol="0" anchor="t"/>
          <a:lstStyle/>
          <a:p>
            <a:pPr algn="r" indent="0" marL="0">
              <a:buNone/>
            </a:pPr>
            <a:r>
              <a:rPr lang="en-US" sz="900" dirty="0">
                <a:solidFill>
                  <a:srgbClr val="A8A8A8"/>
                </a:solidFill>
                <a:latin typeface="Yu Gothic" pitchFamily="34" charset="0"/>
                <a:ea typeface="Yu Gothic" pitchFamily="34" charset="-122"/>
                <a:cs typeface="Yu Gothic"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DFCFA"/>
        </a:solidFill>
      </p:bgPr>
    </p:bg>
    <p:spTree>
      <p:nvGrpSpPr>
        <p:cNvPr id="1" name=""/>
        <p:cNvGrpSpPr/>
        <p:nvPr/>
      </p:nvGrpSpPr>
      <p:grpSpPr>
        <a:xfrm>
          <a:off x="0" y="0"/>
          <a:ext cx="0" cy="0"/>
          <a:chOff x="0" y="0"/>
          <a:chExt cx="0" cy="0"/>
        </a:xfrm>
      </p:grpSpPr>
      <p:sp>
        <p:nvSpPr>
          <p:cNvPr id="2" name="Shape 0"/>
          <p:cNvSpPr/>
          <p:nvPr/>
        </p:nvSpPr>
        <p:spPr>
          <a:xfrm>
            <a:off x="841248" y="566928"/>
            <a:ext cx="384048" cy="77724"/>
          </a:xfrm>
          <a:prstGeom prst="rect">
            <a:avLst/>
          </a:prstGeom>
          <a:solidFill>
            <a:srgbClr val="B8772E"/>
          </a:solidFill>
          <a:ln/>
        </p:spPr>
      </p:sp>
      <p:sp>
        <p:nvSpPr>
          <p:cNvPr id="3" name="Text 1"/>
          <p:cNvSpPr/>
          <p:nvPr/>
        </p:nvSpPr>
        <p:spPr>
          <a:xfrm>
            <a:off x="841248" y="731520"/>
            <a:ext cx="10509199" cy="365760"/>
          </a:xfrm>
          <a:prstGeom prst="rect">
            <a:avLst/>
          </a:prstGeom>
          <a:noFill/>
          <a:ln/>
        </p:spPr>
        <p:txBody>
          <a:bodyPr wrap="square" lIns="0" tIns="0" rIns="0" bIns="0" rtlCol="0" anchor="t"/>
          <a:lstStyle/>
          <a:p>
            <a:pPr indent="0" marL="0">
              <a:buNone/>
            </a:pPr>
            <a:r>
              <a:rPr lang="en-US" sz="1350" b="1" dirty="0">
                <a:solidFill>
                  <a:srgbClr val="B8772E"/>
                </a:solidFill>
                <a:latin typeface="Yu Gothic" pitchFamily="34" charset="0"/>
                <a:ea typeface="Yu Gothic" pitchFamily="34" charset="-122"/>
                <a:cs typeface="Yu Gothic" pitchFamily="34" charset="-120"/>
              </a:rPr>
              <a:t>What we do ｜ Feature</a:t>
            </a:r>
            <a:endParaRPr lang="en-US" sz="1350" dirty="0"/>
          </a:p>
        </p:txBody>
      </p:sp>
      <p:sp>
        <p:nvSpPr>
          <p:cNvPr id="4" name="Text 2"/>
          <p:cNvSpPr/>
          <p:nvPr/>
        </p:nvSpPr>
        <p:spPr>
          <a:xfrm>
            <a:off x="841248" y="1078992"/>
            <a:ext cx="10509199" cy="868680"/>
          </a:xfrm>
          <a:prstGeom prst="rect">
            <a:avLst/>
          </a:prstGeom>
          <a:noFill/>
          <a:ln/>
        </p:spPr>
        <p:txBody>
          <a:bodyPr wrap="square" lIns="0" tIns="0" rIns="0" bIns="0" rtlCol="0" anchor="t"/>
          <a:lstStyle/>
          <a:p>
            <a:pPr indent="0" marL="0">
              <a:lnSpc>
                <a:spcPct val="105000"/>
              </a:lnSpc>
              <a:buNone/>
            </a:pPr>
            <a:r>
              <a:rPr lang="en-US" sz="2800" b="1" dirty="0">
                <a:solidFill>
                  <a:srgbClr val="222222"/>
                </a:solidFill>
                <a:latin typeface="Yu Gothic" pitchFamily="34" charset="0"/>
                <a:ea typeface="Yu Gothic" pitchFamily="34" charset="-122"/>
                <a:cs typeface="Yu Gothic" pitchFamily="34" charset="-120"/>
              </a:rPr>
              <a:t>VUILDがつくる、3つの環境</a:t>
            </a:r>
            <a:endParaRPr lang="en-US" sz="2800" dirty="0"/>
          </a:p>
        </p:txBody>
      </p:sp>
      <p:sp>
        <p:nvSpPr>
          <p:cNvPr id="5" name="Shape 3"/>
          <p:cNvSpPr/>
          <p:nvPr/>
        </p:nvSpPr>
        <p:spPr>
          <a:xfrm>
            <a:off x="841248" y="2057400"/>
            <a:ext cx="3259226" cy="3840480"/>
          </a:xfrm>
          <a:prstGeom prst="rect">
            <a:avLst/>
          </a:prstGeom>
          <a:solidFill>
            <a:srgbClr val="FFFFFF"/>
          </a:solidFill>
          <a:ln w="12700">
            <a:solidFill>
              <a:srgbClr val="E4E1DC"/>
            </a:solidFill>
            <a:prstDash val="solid"/>
          </a:ln>
        </p:spPr>
      </p:sp>
      <p:sp>
        <p:nvSpPr>
          <p:cNvPr id="6" name="Shape 4"/>
          <p:cNvSpPr/>
          <p:nvPr/>
        </p:nvSpPr>
        <p:spPr>
          <a:xfrm>
            <a:off x="841248" y="2057400"/>
            <a:ext cx="3259226" cy="82296"/>
          </a:xfrm>
          <a:prstGeom prst="rect">
            <a:avLst/>
          </a:prstGeom>
          <a:solidFill>
            <a:srgbClr val="B8772E"/>
          </a:solidFill>
          <a:ln/>
        </p:spPr>
      </p:sp>
      <p:sp>
        <p:nvSpPr>
          <p:cNvPr id="7" name="Text 5"/>
          <p:cNvSpPr/>
          <p:nvPr/>
        </p:nvSpPr>
        <p:spPr>
          <a:xfrm>
            <a:off x="1115568" y="2350008"/>
            <a:ext cx="2710586" cy="365760"/>
          </a:xfrm>
          <a:prstGeom prst="rect">
            <a:avLst/>
          </a:prstGeom>
          <a:noFill/>
          <a:ln/>
        </p:spPr>
        <p:txBody>
          <a:bodyPr wrap="square" lIns="0" tIns="0" rIns="0" bIns="0" rtlCol="0" anchor="t"/>
          <a:lstStyle/>
          <a:p>
            <a:pPr indent="0" marL="0">
              <a:buNone/>
            </a:pPr>
            <a:r>
              <a:rPr lang="en-US" sz="1500" b="1" dirty="0">
                <a:solidFill>
                  <a:srgbClr val="B8772E"/>
                </a:solidFill>
                <a:latin typeface="Yu Gothic" pitchFamily="34" charset="0"/>
                <a:ea typeface="Yu Gothic" pitchFamily="34" charset="-122"/>
                <a:cs typeface="Yu Gothic" pitchFamily="34" charset="-120"/>
              </a:rPr>
              <a:t>01. Tool</a:t>
            </a:r>
            <a:endParaRPr lang="en-US" sz="1500" dirty="0"/>
          </a:p>
        </p:txBody>
      </p:sp>
      <p:sp>
        <p:nvSpPr>
          <p:cNvPr id="8" name="Text 6"/>
          <p:cNvSpPr/>
          <p:nvPr/>
        </p:nvSpPr>
        <p:spPr>
          <a:xfrm>
            <a:off x="1115568" y="2807208"/>
            <a:ext cx="2710586" cy="777240"/>
          </a:xfrm>
          <a:prstGeom prst="rect">
            <a:avLst/>
          </a:prstGeom>
          <a:noFill/>
          <a:ln/>
        </p:spPr>
        <p:txBody>
          <a:bodyPr wrap="square" lIns="0" tIns="0" rIns="0" bIns="0" rtlCol="0" anchor="t"/>
          <a:lstStyle/>
          <a:p>
            <a:pPr indent="0" marL="0">
              <a:lnSpc>
                <a:spcPct val="115000"/>
              </a:lnSpc>
              <a:buNone/>
            </a:pPr>
            <a:r>
              <a:rPr lang="en-US" sz="1800" b="1" dirty="0">
                <a:solidFill>
                  <a:srgbClr val="222222"/>
                </a:solidFill>
                <a:latin typeface="Yu Gothic" pitchFamily="34" charset="0"/>
                <a:ea typeface="Yu Gothic" pitchFamily="34" charset="-122"/>
                <a:cs typeface="Yu Gothic" pitchFamily="34" charset="-120"/>
              </a:rPr>
              <a:t>アイデアを、形にする道具</a:t>
            </a:r>
            <a:endParaRPr lang="en-US" sz="1800" dirty="0"/>
          </a:p>
        </p:txBody>
      </p:sp>
      <p:sp>
        <p:nvSpPr>
          <p:cNvPr id="9" name="Text 7"/>
          <p:cNvSpPr/>
          <p:nvPr/>
        </p:nvSpPr>
        <p:spPr>
          <a:xfrm>
            <a:off x="1115568" y="3657600"/>
            <a:ext cx="2710586" cy="2103120"/>
          </a:xfrm>
          <a:prstGeom prst="rect">
            <a:avLst/>
          </a:prstGeom>
          <a:noFill/>
          <a:ln/>
        </p:spPr>
        <p:txBody>
          <a:bodyPr wrap="square" lIns="0" tIns="0" rIns="0" bIns="0" rtlCol="0" anchor="t"/>
          <a:lstStyle/>
          <a:p>
            <a:pPr algn="l" indent="0" marL="0">
              <a:lnSpc>
                <a:spcPct val="132000"/>
              </a:lnSpc>
              <a:buNone/>
            </a:pPr>
            <a:r>
              <a:rPr lang="en-US" sz="1150" dirty="0">
                <a:solidFill>
                  <a:srgbClr val="707070"/>
                </a:solidFill>
                <a:latin typeface="Yu Gothic" pitchFamily="34" charset="0"/>
                <a:ea typeface="Yu Gothic" pitchFamily="34" charset="-122"/>
                <a:cs typeface="Yu Gothic" pitchFamily="34" charset="-120"/>
              </a:rPr>
              <a:t>デザインから加工まで、ものづくりのプロセスをつなぐツール群を開発・提供。設計製作を補助するEMARF、木材加工を可能にするShopBot、言葉やスケッチからデザインを始められるAI Modeling Tools。3つが組み合わさることで、アイデアは形になる。</a:t>
            </a:r>
            <a:endParaRPr lang="en-US" sz="1150" dirty="0"/>
          </a:p>
        </p:txBody>
      </p:sp>
      <p:sp>
        <p:nvSpPr>
          <p:cNvPr id="10" name="Shape 8"/>
          <p:cNvSpPr/>
          <p:nvPr/>
        </p:nvSpPr>
        <p:spPr>
          <a:xfrm>
            <a:off x="4466234" y="2057400"/>
            <a:ext cx="3259226" cy="3840480"/>
          </a:xfrm>
          <a:prstGeom prst="rect">
            <a:avLst/>
          </a:prstGeom>
          <a:solidFill>
            <a:srgbClr val="F7F2EA"/>
          </a:solidFill>
          <a:ln w="12700">
            <a:solidFill>
              <a:srgbClr val="E4E1DC"/>
            </a:solidFill>
            <a:prstDash val="solid"/>
          </a:ln>
        </p:spPr>
      </p:sp>
      <p:sp>
        <p:nvSpPr>
          <p:cNvPr id="11" name="Shape 9"/>
          <p:cNvSpPr/>
          <p:nvPr/>
        </p:nvSpPr>
        <p:spPr>
          <a:xfrm>
            <a:off x="4466234" y="2057400"/>
            <a:ext cx="3259226" cy="82296"/>
          </a:xfrm>
          <a:prstGeom prst="rect">
            <a:avLst/>
          </a:prstGeom>
          <a:solidFill>
            <a:srgbClr val="B8772E"/>
          </a:solidFill>
          <a:ln/>
        </p:spPr>
      </p:sp>
      <p:sp>
        <p:nvSpPr>
          <p:cNvPr id="12" name="Text 10"/>
          <p:cNvSpPr/>
          <p:nvPr/>
        </p:nvSpPr>
        <p:spPr>
          <a:xfrm>
            <a:off x="4740554" y="2350008"/>
            <a:ext cx="2710586" cy="365760"/>
          </a:xfrm>
          <a:prstGeom prst="rect">
            <a:avLst/>
          </a:prstGeom>
          <a:noFill/>
          <a:ln/>
        </p:spPr>
        <p:txBody>
          <a:bodyPr wrap="square" lIns="0" tIns="0" rIns="0" bIns="0" rtlCol="0" anchor="t"/>
          <a:lstStyle/>
          <a:p>
            <a:pPr indent="0" marL="0">
              <a:buNone/>
            </a:pPr>
            <a:r>
              <a:rPr lang="en-US" sz="1500" b="1" dirty="0">
                <a:solidFill>
                  <a:srgbClr val="B8772E"/>
                </a:solidFill>
                <a:latin typeface="Yu Gothic" pitchFamily="34" charset="0"/>
                <a:ea typeface="Yu Gothic" pitchFamily="34" charset="-122"/>
                <a:cs typeface="Yu Gothic" pitchFamily="34" charset="-120"/>
              </a:rPr>
              <a:t>02. Place</a:t>
            </a:r>
            <a:endParaRPr lang="en-US" sz="1500" dirty="0"/>
          </a:p>
        </p:txBody>
      </p:sp>
      <p:sp>
        <p:nvSpPr>
          <p:cNvPr id="13" name="Text 11"/>
          <p:cNvSpPr/>
          <p:nvPr/>
        </p:nvSpPr>
        <p:spPr>
          <a:xfrm>
            <a:off x="4740554" y="2807208"/>
            <a:ext cx="2710586" cy="777240"/>
          </a:xfrm>
          <a:prstGeom prst="rect">
            <a:avLst/>
          </a:prstGeom>
          <a:noFill/>
          <a:ln/>
        </p:spPr>
        <p:txBody>
          <a:bodyPr wrap="square" lIns="0" tIns="0" rIns="0" bIns="0" rtlCol="0" anchor="t"/>
          <a:lstStyle/>
          <a:p>
            <a:pPr indent="0" marL="0">
              <a:lnSpc>
                <a:spcPct val="115000"/>
              </a:lnSpc>
              <a:buNone/>
            </a:pPr>
            <a:r>
              <a:rPr lang="en-US" sz="1800" b="1" dirty="0">
                <a:solidFill>
                  <a:srgbClr val="222222"/>
                </a:solidFill>
                <a:latin typeface="Yu Gothic" pitchFamily="34" charset="0"/>
                <a:ea typeface="Yu Gothic" pitchFamily="34" charset="-122"/>
                <a:cs typeface="Yu Gothic" pitchFamily="34" charset="-120"/>
              </a:rPr>
              <a:t>つくる人が、集まる場所</a:t>
            </a:r>
            <a:endParaRPr lang="en-US" sz="1800" dirty="0"/>
          </a:p>
        </p:txBody>
      </p:sp>
      <p:sp>
        <p:nvSpPr>
          <p:cNvPr id="14" name="Text 12"/>
          <p:cNvSpPr/>
          <p:nvPr/>
        </p:nvSpPr>
        <p:spPr>
          <a:xfrm>
            <a:off x="4740554" y="3657600"/>
            <a:ext cx="2710586" cy="2103120"/>
          </a:xfrm>
          <a:prstGeom prst="rect">
            <a:avLst/>
          </a:prstGeom>
          <a:noFill/>
          <a:ln/>
        </p:spPr>
        <p:txBody>
          <a:bodyPr wrap="square" lIns="0" tIns="0" rIns="0" bIns="0" rtlCol="0" anchor="t"/>
          <a:lstStyle/>
          <a:p>
            <a:pPr algn="l" indent="0" marL="0">
              <a:lnSpc>
                <a:spcPct val="132000"/>
              </a:lnSpc>
              <a:buNone/>
            </a:pPr>
            <a:r>
              <a:rPr lang="en-US" sz="1150" dirty="0">
                <a:solidFill>
                  <a:srgbClr val="707070"/>
                </a:solidFill>
                <a:latin typeface="Yu Gothic" pitchFamily="34" charset="0"/>
                <a:ea typeface="Yu Gothic" pitchFamily="34" charset="-122"/>
                <a:cs typeface="Yu Gothic" pitchFamily="34" charset="-120"/>
              </a:rPr>
              <a:t>全国に広がるShopBotオーナーの拠点は、単なる加工施設ではない。クリエイターが集い、技術を共有し、ものづくりの文化を育てる場になっている。VUILDはそのネットワークを活性化し、全国的なものづくりの動きへとつなげていく。</a:t>
            </a:r>
            <a:endParaRPr lang="en-US" sz="1150" dirty="0"/>
          </a:p>
        </p:txBody>
      </p:sp>
      <p:sp>
        <p:nvSpPr>
          <p:cNvPr id="15" name="Shape 13"/>
          <p:cNvSpPr/>
          <p:nvPr/>
        </p:nvSpPr>
        <p:spPr>
          <a:xfrm>
            <a:off x="8091221" y="2057400"/>
            <a:ext cx="3259226" cy="3840480"/>
          </a:xfrm>
          <a:prstGeom prst="rect">
            <a:avLst/>
          </a:prstGeom>
          <a:solidFill>
            <a:srgbClr val="FFFFFF"/>
          </a:solidFill>
          <a:ln w="12700">
            <a:solidFill>
              <a:srgbClr val="E4E1DC"/>
            </a:solidFill>
            <a:prstDash val="solid"/>
          </a:ln>
        </p:spPr>
      </p:sp>
      <p:sp>
        <p:nvSpPr>
          <p:cNvPr id="16" name="Shape 14"/>
          <p:cNvSpPr/>
          <p:nvPr/>
        </p:nvSpPr>
        <p:spPr>
          <a:xfrm>
            <a:off x="8091221" y="2057400"/>
            <a:ext cx="3259226" cy="82296"/>
          </a:xfrm>
          <a:prstGeom prst="rect">
            <a:avLst/>
          </a:prstGeom>
          <a:solidFill>
            <a:srgbClr val="B8772E"/>
          </a:solidFill>
          <a:ln/>
        </p:spPr>
      </p:sp>
      <p:sp>
        <p:nvSpPr>
          <p:cNvPr id="17" name="Text 15"/>
          <p:cNvSpPr/>
          <p:nvPr/>
        </p:nvSpPr>
        <p:spPr>
          <a:xfrm>
            <a:off x="8365541" y="2350008"/>
            <a:ext cx="2710586" cy="365760"/>
          </a:xfrm>
          <a:prstGeom prst="rect">
            <a:avLst/>
          </a:prstGeom>
          <a:noFill/>
          <a:ln/>
        </p:spPr>
        <p:txBody>
          <a:bodyPr wrap="square" lIns="0" tIns="0" rIns="0" bIns="0" rtlCol="0" anchor="t"/>
          <a:lstStyle/>
          <a:p>
            <a:pPr indent="0" marL="0">
              <a:buNone/>
            </a:pPr>
            <a:r>
              <a:rPr lang="en-US" sz="1500" b="1" dirty="0">
                <a:solidFill>
                  <a:srgbClr val="B8772E"/>
                </a:solidFill>
                <a:latin typeface="Yu Gothic" pitchFamily="34" charset="0"/>
                <a:ea typeface="Yu Gothic" pitchFamily="34" charset="-122"/>
                <a:cs typeface="Yu Gothic" pitchFamily="34" charset="-120"/>
              </a:rPr>
              <a:t>03. Knowledge</a:t>
            </a:r>
            <a:endParaRPr lang="en-US" sz="1500" dirty="0"/>
          </a:p>
        </p:txBody>
      </p:sp>
      <p:sp>
        <p:nvSpPr>
          <p:cNvPr id="18" name="Text 16"/>
          <p:cNvSpPr/>
          <p:nvPr/>
        </p:nvSpPr>
        <p:spPr>
          <a:xfrm>
            <a:off x="8365541" y="2807208"/>
            <a:ext cx="2710586" cy="777240"/>
          </a:xfrm>
          <a:prstGeom prst="rect">
            <a:avLst/>
          </a:prstGeom>
          <a:noFill/>
          <a:ln/>
        </p:spPr>
        <p:txBody>
          <a:bodyPr wrap="square" lIns="0" tIns="0" rIns="0" bIns="0" rtlCol="0" anchor="t"/>
          <a:lstStyle/>
          <a:p>
            <a:pPr indent="0" marL="0">
              <a:lnSpc>
                <a:spcPct val="115000"/>
              </a:lnSpc>
              <a:buNone/>
            </a:pPr>
            <a:r>
              <a:rPr lang="en-US" sz="1800" b="1" dirty="0">
                <a:solidFill>
                  <a:srgbClr val="222222"/>
                </a:solidFill>
                <a:latin typeface="Yu Gothic" pitchFamily="34" charset="0"/>
                <a:ea typeface="Yu Gothic" pitchFamily="34" charset="-122"/>
                <a:cs typeface="Yu Gothic" pitchFamily="34" charset="-120"/>
              </a:rPr>
              <a:t>つくり方を、受け継いでいく</a:t>
            </a:r>
            <a:endParaRPr lang="en-US" sz="1800" dirty="0"/>
          </a:p>
        </p:txBody>
      </p:sp>
      <p:sp>
        <p:nvSpPr>
          <p:cNvPr id="19" name="Text 17"/>
          <p:cNvSpPr/>
          <p:nvPr/>
        </p:nvSpPr>
        <p:spPr>
          <a:xfrm>
            <a:off x="8365541" y="3657600"/>
            <a:ext cx="2710586" cy="2103120"/>
          </a:xfrm>
          <a:prstGeom prst="rect">
            <a:avLst/>
          </a:prstGeom>
          <a:noFill/>
          <a:ln/>
        </p:spPr>
        <p:txBody>
          <a:bodyPr wrap="square" lIns="0" tIns="0" rIns="0" bIns="0" rtlCol="0" anchor="t"/>
          <a:lstStyle/>
          <a:p>
            <a:pPr algn="l" indent="0" marL="0">
              <a:lnSpc>
                <a:spcPct val="132000"/>
              </a:lnSpc>
              <a:buNone/>
            </a:pPr>
            <a:r>
              <a:rPr lang="en-US" sz="1150" dirty="0">
                <a:solidFill>
                  <a:srgbClr val="707070"/>
                </a:solidFill>
                <a:latin typeface="Yu Gothic" pitchFamily="34" charset="0"/>
                <a:ea typeface="Yu Gothic" pitchFamily="34" charset="-122"/>
                <a:cs typeface="Yu Gothic" pitchFamily="34" charset="-120"/>
              </a:rPr>
              <a:t>機械の使い方だけでなく、デザインの思想ごと伝える。ShopBot導入後の伴走支援から、学校法人向けプログラム、地域に入り込んだ人材育成まで。ものづくりの担い手を、地域の中から増やしていく。</a:t>
            </a:r>
            <a:endParaRPr lang="en-US" sz="1150" dirty="0"/>
          </a:p>
        </p:txBody>
      </p:sp>
      <p:sp>
        <p:nvSpPr>
          <p:cNvPr id="20" name="Text 18"/>
          <p:cNvSpPr/>
          <p:nvPr/>
        </p:nvSpPr>
        <p:spPr>
          <a:xfrm>
            <a:off x="841248" y="6400800"/>
            <a:ext cx="7315200" cy="274320"/>
          </a:xfrm>
          <a:prstGeom prst="rect">
            <a:avLst/>
          </a:prstGeom>
          <a:noFill/>
          <a:ln/>
        </p:spPr>
        <p:txBody>
          <a:bodyPr wrap="square" lIns="0" tIns="0" rIns="0" bIns="0" rtlCol="0" anchor="t"/>
          <a:lstStyle/>
          <a:p>
            <a:pPr indent="0" marL="0">
              <a:buNone/>
            </a:pPr>
            <a:r>
              <a:rPr lang="en-US" sz="900" dirty="0">
                <a:solidFill>
                  <a:srgbClr val="A8A8A8"/>
                </a:solidFill>
                <a:latin typeface="Yu Gothic" pitchFamily="34" charset="0"/>
                <a:ea typeface="Yu Gothic" pitchFamily="34" charset="-122"/>
                <a:cs typeface="Yu Gothic" pitchFamily="34" charset="-120"/>
              </a:rPr>
              <a:t>Incubation Team OKR ・ リーダー定例 2026-06-28</a:t>
            </a:r>
            <a:endParaRPr lang="en-US" sz="900" dirty="0"/>
          </a:p>
        </p:txBody>
      </p:sp>
      <p:sp>
        <p:nvSpPr>
          <p:cNvPr id="21" name="Text 19"/>
          <p:cNvSpPr/>
          <p:nvPr/>
        </p:nvSpPr>
        <p:spPr>
          <a:xfrm>
            <a:off x="10436047" y="6400800"/>
            <a:ext cx="914400" cy="274320"/>
          </a:xfrm>
          <a:prstGeom prst="rect">
            <a:avLst/>
          </a:prstGeom>
          <a:noFill/>
          <a:ln/>
        </p:spPr>
        <p:txBody>
          <a:bodyPr wrap="square" lIns="0" tIns="0" rIns="0" bIns="0" rtlCol="0" anchor="t"/>
          <a:lstStyle/>
          <a:p>
            <a:pPr algn="r" indent="0" marL="0">
              <a:buNone/>
            </a:pPr>
            <a:r>
              <a:rPr lang="en-US" sz="900" dirty="0">
                <a:solidFill>
                  <a:srgbClr val="A8A8A8"/>
                </a:solidFill>
                <a:latin typeface="Yu Gothic" pitchFamily="34" charset="0"/>
                <a:ea typeface="Yu Gothic" pitchFamily="34" charset="-122"/>
                <a:cs typeface="Yu Gothic"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DFCFA"/>
        </a:solidFill>
      </p:bgPr>
    </p:bg>
    <p:spTree>
      <p:nvGrpSpPr>
        <p:cNvPr id="1" name=""/>
        <p:cNvGrpSpPr/>
        <p:nvPr/>
      </p:nvGrpSpPr>
      <p:grpSpPr>
        <a:xfrm>
          <a:off x="0" y="0"/>
          <a:ext cx="0" cy="0"/>
          <a:chOff x="0" y="0"/>
          <a:chExt cx="0" cy="0"/>
        </a:xfrm>
      </p:grpSpPr>
      <p:sp>
        <p:nvSpPr>
          <p:cNvPr id="2" name="Shape 0"/>
          <p:cNvSpPr/>
          <p:nvPr/>
        </p:nvSpPr>
        <p:spPr>
          <a:xfrm>
            <a:off x="841248" y="566928"/>
            <a:ext cx="384048" cy="77724"/>
          </a:xfrm>
          <a:prstGeom prst="rect">
            <a:avLst/>
          </a:prstGeom>
          <a:solidFill>
            <a:srgbClr val="B8772E"/>
          </a:solidFill>
          <a:ln/>
        </p:spPr>
      </p:sp>
      <p:sp>
        <p:nvSpPr>
          <p:cNvPr id="3" name="Text 1"/>
          <p:cNvSpPr/>
          <p:nvPr/>
        </p:nvSpPr>
        <p:spPr>
          <a:xfrm>
            <a:off x="841248" y="731520"/>
            <a:ext cx="10509199" cy="365760"/>
          </a:xfrm>
          <a:prstGeom prst="rect">
            <a:avLst/>
          </a:prstGeom>
          <a:noFill/>
          <a:ln/>
        </p:spPr>
        <p:txBody>
          <a:bodyPr wrap="square" lIns="0" tIns="0" rIns="0" bIns="0" rtlCol="0" anchor="t"/>
          <a:lstStyle/>
          <a:p>
            <a:pPr indent="0" marL="0">
              <a:buNone/>
            </a:pPr>
            <a:r>
              <a:rPr lang="en-US" sz="1350" b="1" dirty="0">
                <a:solidFill>
                  <a:srgbClr val="B8772E"/>
                </a:solidFill>
                <a:latin typeface="Yu Gothic" pitchFamily="34" charset="0"/>
                <a:ea typeface="Yu Gothic" pitchFamily="34" charset="-122"/>
                <a:cs typeface="Yu Gothic" pitchFamily="34" charset="-120"/>
              </a:rPr>
              <a:t>What we do ｜ Solution</a:t>
            </a:r>
            <a:endParaRPr lang="en-US" sz="1350" dirty="0"/>
          </a:p>
        </p:txBody>
      </p:sp>
      <p:sp>
        <p:nvSpPr>
          <p:cNvPr id="4" name="Text 2"/>
          <p:cNvSpPr/>
          <p:nvPr/>
        </p:nvSpPr>
        <p:spPr>
          <a:xfrm>
            <a:off x="841248" y="1078992"/>
            <a:ext cx="10509199" cy="868680"/>
          </a:xfrm>
          <a:prstGeom prst="rect">
            <a:avLst/>
          </a:prstGeom>
          <a:noFill/>
          <a:ln/>
        </p:spPr>
        <p:txBody>
          <a:bodyPr wrap="square" lIns="0" tIns="0" rIns="0" bIns="0" rtlCol="0" anchor="t"/>
          <a:lstStyle/>
          <a:p>
            <a:pPr indent="0" marL="0">
              <a:lnSpc>
                <a:spcPct val="105000"/>
              </a:lnSpc>
              <a:buNone/>
            </a:pPr>
            <a:r>
              <a:rPr lang="en-US" sz="3000" b="1" dirty="0">
                <a:solidFill>
                  <a:srgbClr val="222222"/>
                </a:solidFill>
                <a:latin typeface="Yu Gothic" pitchFamily="34" charset="0"/>
                <a:ea typeface="Yu Gothic" pitchFamily="34" charset="-122"/>
                <a:cs typeface="Yu Gothic" pitchFamily="34" charset="-120"/>
              </a:rPr>
              <a:t>提供するソリューション</a:t>
            </a:r>
            <a:endParaRPr lang="en-US" sz="3000" dirty="0"/>
          </a:p>
        </p:txBody>
      </p:sp>
      <p:sp>
        <p:nvSpPr>
          <p:cNvPr id="5" name="Shape 3"/>
          <p:cNvSpPr/>
          <p:nvPr/>
        </p:nvSpPr>
        <p:spPr>
          <a:xfrm>
            <a:off x="841248" y="2286000"/>
            <a:ext cx="3259226" cy="3200400"/>
          </a:xfrm>
          <a:prstGeom prst="rect">
            <a:avLst/>
          </a:prstGeom>
          <a:solidFill>
            <a:srgbClr val="FFFFFF"/>
          </a:solidFill>
          <a:ln w="12700">
            <a:solidFill>
              <a:srgbClr val="E4E1DC"/>
            </a:solidFill>
            <a:prstDash val="solid"/>
          </a:ln>
        </p:spPr>
      </p:sp>
      <p:sp>
        <p:nvSpPr>
          <p:cNvPr id="6" name="Shape 4"/>
          <p:cNvSpPr/>
          <p:nvPr/>
        </p:nvSpPr>
        <p:spPr>
          <a:xfrm>
            <a:off x="841248" y="2286000"/>
            <a:ext cx="73152" cy="3200400"/>
          </a:xfrm>
          <a:prstGeom prst="rect">
            <a:avLst/>
          </a:prstGeom>
          <a:solidFill>
            <a:srgbClr val="B8772E"/>
          </a:solidFill>
          <a:ln/>
        </p:spPr>
      </p:sp>
      <p:sp>
        <p:nvSpPr>
          <p:cNvPr id="7" name="Text 5"/>
          <p:cNvSpPr/>
          <p:nvPr/>
        </p:nvSpPr>
        <p:spPr>
          <a:xfrm>
            <a:off x="1133856" y="2560320"/>
            <a:ext cx="2710586" cy="457200"/>
          </a:xfrm>
          <a:prstGeom prst="rect">
            <a:avLst/>
          </a:prstGeom>
          <a:noFill/>
          <a:ln/>
        </p:spPr>
        <p:txBody>
          <a:bodyPr wrap="square" lIns="0" tIns="0" rIns="0" bIns="0" rtlCol="0" anchor="t"/>
          <a:lstStyle/>
          <a:p>
            <a:pPr indent="0" marL="0">
              <a:buNone/>
            </a:pPr>
            <a:r>
              <a:rPr lang="en-US" sz="1800" b="1" dirty="0">
                <a:solidFill>
                  <a:srgbClr val="222222"/>
                </a:solidFill>
                <a:latin typeface="Yu Gothic" pitchFamily="34" charset="0"/>
                <a:ea typeface="Yu Gothic" pitchFamily="34" charset="-122"/>
                <a:cs typeface="Yu Gothic" pitchFamily="34" charset="-120"/>
              </a:rPr>
              <a:t>ShopBot®</a:t>
            </a:r>
            <a:endParaRPr lang="en-US" sz="1800" dirty="0"/>
          </a:p>
        </p:txBody>
      </p:sp>
      <p:sp>
        <p:nvSpPr>
          <p:cNvPr id="8" name="Text 6"/>
          <p:cNvSpPr/>
          <p:nvPr/>
        </p:nvSpPr>
        <p:spPr>
          <a:xfrm>
            <a:off x="1133856" y="3154680"/>
            <a:ext cx="2692298" cy="1737360"/>
          </a:xfrm>
          <a:prstGeom prst="rect">
            <a:avLst/>
          </a:prstGeom>
          <a:noFill/>
          <a:ln/>
        </p:spPr>
        <p:txBody>
          <a:bodyPr wrap="square" lIns="0" tIns="0" rIns="0" bIns="0" rtlCol="0" anchor="t"/>
          <a:lstStyle/>
          <a:p>
            <a:pPr indent="0" marL="0">
              <a:lnSpc>
                <a:spcPct val="132000"/>
              </a:lnSpc>
              <a:buNone/>
            </a:pPr>
            <a:r>
              <a:rPr lang="en-US" sz="1250" dirty="0">
                <a:solidFill>
                  <a:srgbClr val="707070"/>
                </a:solidFill>
                <a:latin typeface="Yu Gothic" pitchFamily="34" charset="0"/>
                <a:ea typeface="Yu Gothic" pitchFamily="34" charset="-122"/>
                <a:cs typeface="Yu Gothic" pitchFamily="34" charset="-120"/>
              </a:rPr>
              <a:t>木材を自在に加工できるCNCルーター。全国280拠点に広がるオーナーネットワークが、ものづくりの現場を支えている。</a:t>
            </a:r>
            <a:endParaRPr lang="en-US" sz="1250" dirty="0"/>
          </a:p>
        </p:txBody>
      </p:sp>
      <p:sp>
        <p:nvSpPr>
          <p:cNvPr id="9" name="Shape 7"/>
          <p:cNvSpPr/>
          <p:nvPr/>
        </p:nvSpPr>
        <p:spPr>
          <a:xfrm>
            <a:off x="1133856" y="4919472"/>
            <a:ext cx="2692298" cy="10973"/>
          </a:xfrm>
          <a:prstGeom prst="rect">
            <a:avLst/>
          </a:prstGeom>
          <a:solidFill>
            <a:srgbClr val="E4E1DC"/>
          </a:solidFill>
          <a:ln/>
        </p:spPr>
      </p:sp>
      <p:sp>
        <p:nvSpPr>
          <p:cNvPr id="10" name="Text 8"/>
          <p:cNvSpPr/>
          <p:nvPr/>
        </p:nvSpPr>
        <p:spPr>
          <a:xfrm>
            <a:off x="1133856" y="5029200"/>
            <a:ext cx="2710586" cy="320040"/>
          </a:xfrm>
          <a:prstGeom prst="rect">
            <a:avLst/>
          </a:prstGeom>
          <a:noFill/>
          <a:ln/>
        </p:spPr>
        <p:txBody>
          <a:bodyPr wrap="square" lIns="0" tIns="0" rIns="0" bIns="0" rtlCol="0" anchor="t"/>
          <a:lstStyle/>
          <a:p>
            <a:pPr indent="0" marL="0">
              <a:buNone/>
            </a:pPr>
            <a:r>
              <a:rPr lang="en-US" sz="1200" b="1" dirty="0">
                <a:solidFill>
                  <a:srgbClr val="B8772E"/>
                </a:solidFill>
                <a:latin typeface="Yu Gothic" pitchFamily="34" charset="0"/>
                <a:ea typeface="Yu Gothic" pitchFamily="34" charset="-122"/>
                <a:cs typeface="Yu Gothic" pitchFamily="34" charset="-120"/>
              </a:rPr>
              <a:t>→ ShopBot</a:t>
            </a:r>
            <a:endParaRPr lang="en-US" sz="1200" dirty="0"/>
          </a:p>
        </p:txBody>
      </p:sp>
      <p:sp>
        <p:nvSpPr>
          <p:cNvPr id="11" name="Shape 9"/>
          <p:cNvSpPr/>
          <p:nvPr/>
        </p:nvSpPr>
        <p:spPr>
          <a:xfrm>
            <a:off x="4466234" y="2286000"/>
            <a:ext cx="3259226" cy="3200400"/>
          </a:xfrm>
          <a:prstGeom prst="rect">
            <a:avLst/>
          </a:prstGeom>
          <a:solidFill>
            <a:srgbClr val="FFFFFF"/>
          </a:solidFill>
          <a:ln w="12700">
            <a:solidFill>
              <a:srgbClr val="E4E1DC"/>
            </a:solidFill>
            <a:prstDash val="solid"/>
          </a:ln>
        </p:spPr>
      </p:sp>
      <p:sp>
        <p:nvSpPr>
          <p:cNvPr id="12" name="Shape 10"/>
          <p:cNvSpPr/>
          <p:nvPr/>
        </p:nvSpPr>
        <p:spPr>
          <a:xfrm>
            <a:off x="4466234" y="2286000"/>
            <a:ext cx="73152" cy="3200400"/>
          </a:xfrm>
          <a:prstGeom prst="rect">
            <a:avLst/>
          </a:prstGeom>
          <a:solidFill>
            <a:srgbClr val="B8772E"/>
          </a:solidFill>
          <a:ln/>
        </p:spPr>
      </p:sp>
      <p:sp>
        <p:nvSpPr>
          <p:cNvPr id="13" name="Text 11"/>
          <p:cNvSpPr/>
          <p:nvPr/>
        </p:nvSpPr>
        <p:spPr>
          <a:xfrm>
            <a:off x="4758842" y="2560320"/>
            <a:ext cx="2710586" cy="457200"/>
          </a:xfrm>
          <a:prstGeom prst="rect">
            <a:avLst/>
          </a:prstGeom>
          <a:noFill/>
          <a:ln/>
        </p:spPr>
        <p:txBody>
          <a:bodyPr wrap="square" lIns="0" tIns="0" rIns="0" bIns="0" rtlCol="0" anchor="t"/>
          <a:lstStyle/>
          <a:p>
            <a:pPr indent="0" marL="0">
              <a:buNone/>
            </a:pPr>
            <a:r>
              <a:rPr lang="en-US" sz="1800" b="1" dirty="0">
                <a:solidFill>
                  <a:srgbClr val="222222"/>
                </a:solidFill>
                <a:latin typeface="Yu Gothic" pitchFamily="34" charset="0"/>
                <a:ea typeface="Yu Gothic" pitchFamily="34" charset="-122"/>
                <a:cs typeface="Yu Gothic" pitchFamily="34" charset="-120"/>
              </a:rPr>
              <a:t>教育プログラム</a:t>
            </a:r>
            <a:endParaRPr lang="en-US" sz="1800" dirty="0"/>
          </a:p>
        </p:txBody>
      </p:sp>
      <p:sp>
        <p:nvSpPr>
          <p:cNvPr id="14" name="Text 12"/>
          <p:cNvSpPr/>
          <p:nvPr/>
        </p:nvSpPr>
        <p:spPr>
          <a:xfrm>
            <a:off x="4758842" y="3154680"/>
            <a:ext cx="2692298" cy="1737360"/>
          </a:xfrm>
          <a:prstGeom prst="rect">
            <a:avLst/>
          </a:prstGeom>
          <a:noFill/>
          <a:ln/>
        </p:spPr>
        <p:txBody>
          <a:bodyPr wrap="square" lIns="0" tIns="0" rIns="0" bIns="0" rtlCol="0" anchor="t"/>
          <a:lstStyle/>
          <a:p>
            <a:pPr indent="0" marL="0">
              <a:lnSpc>
                <a:spcPct val="132000"/>
              </a:lnSpc>
              <a:buNone/>
            </a:pPr>
            <a:r>
              <a:rPr lang="en-US" sz="1250" dirty="0">
                <a:solidFill>
                  <a:srgbClr val="707070"/>
                </a:solidFill>
                <a:latin typeface="Yu Gothic" pitchFamily="34" charset="0"/>
                <a:ea typeface="Yu Gothic" pitchFamily="34" charset="-122"/>
                <a:cs typeface="Yu Gothic" pitchFamily="34" charset="-120"/>
              </a:rPr>
              <a:t>デザインからものづくりまでの智を獲得する教育プログラムの提供。</a:t>
            </a:r>
            <a:endParaRPr lang="en-US" sz="1250" dirty="0"/>
          </a:p>
        </p:txBody>
      </p:sp>
      <p:sp>
        <p:nvSpPr>
          <p:cNvPr id="15" name="Shape 13"/>
          <p:cNvSpPr/>
          <p:nvPr/>
        </p:nvSpPr>
        <p:spPr>
          <a:xfrm>
            <a:off x="4758842" y="4919472"/>
            <a:ext cx="2692298" cy="10973"/>
          </a:xfrm>
          <a:prstGeom prst="rect">
            <a:avLst/>
          </a:prstGeom>
          <a:solidFill>
            <a:srgbClr val="E4E1DC"/>
          </a:solidFill>
          <a:ln/>
        </p:spPr>
      </p:sp>
      <p:sp>
        <p:nvSpPr>
          <p:cNvPr id="16" name="Text 14"/>
          <p:cNvSpPr/>
          <p:nvPr/>
        </p:nvSpPr>
        <p:spPr>
          <a:xfrm>
            <a:off x="4758842" y="5029200"/>
            <a:ext cx="2710586" cy="320040"/>
          </a:xfrm>
          <a:prstGeom prst="rect">
            <a:avLst/>
          </a:prstGeom>
          <a:noFill/>
          <a:ln/>
        </p:spPr>
        <p:txBody>
          <a:bodyPr wrap="square" lIns="0" tIns="0" rIns="0" bIns="0" rtlCol="0" anchor="t"/>
          <a:lstStyle/>
          <a:p>
            <a:pPr indent="0" marL="0">
              <a:buNone/>
            </a:pPr>
            <a:r>
              <a:rPr lang="en-US" sz="1200" b="1" dirty="0">
                <a:solidFill>
                  <a:srgbClr val="B8772E"/>
                </a:solidFill>
                <a:latin typeface="Yu Gothic" pitchFamily="34" charset="0"/>
                <a:ea typeface="Yu Gothic" pitchFamily="34" charset="-122"/>
                <a:cs typeface="Yu Gothic" pitchFamily="34" charset="-120"/>
              </a:rPr>
              <a:t>→ CMSで記事をつくる</a:t>
            </a:r>
            <a:endParaRPr lang="en-US" sz="1200" dirty="0"/>
          </a:p>
        </p:txBody>
      </p:sp>
      <p:sp>
        <p:nvSpPr>
          <p:cNvPr id="17" name="Shape 15"/>
          <p:cNvSpPr/>
          <p:nvPr/>
        </p:nvSpPr>
        <p:spPr>
          <a:xfrm>
            <a:off x="8091221" y="2286000"/>
            <a:ext cx="3259226" cy="3200400"/>
          </a:xfrm>
          <a:prstGeom prst="rect">
            <a:avLst/>
          </a:prstGeom>
          <a:solidFill>
            <a:srgbClr val="FFFFFF"/>
          </a:solidFill>
          <a:ln w="12700">
            <a:solidFill>
              <a:srgbClr val="E4E1DC"/>
            </a:solidFill>
            <a:prstDash val="solid"/>
          </a:ln>
        </p:spPr>
      </p:sp>
      <p:sp>
        <p:nvSpPr>
          <p:cNvPr id="18" name="Shape 16"/>
          <p:cNvSpPr/>
          <p:nvPr/>
        </p:nvSpPr>
        <p:spPr>
          <a:xfrm>
            <a:off x="8091221" y="2286000"/>
            <a:ext cx="73152" cy="3200400"/>
          </a:xfrm>
          <a:prstGeom prst="rect">
            <a:avLst/>
          </a:prstGeom>
          <a:solidFill>
            <a:srgbClr val="B8772E"/>
          </a:solidFill>
          <a:ln/>
        </p:spPr>
      </p:sp>
      <p:sp>
        <p:nvSpPr>
          <p:cNvPr id="19" name="Text 17"/>
          <p:cNvSpPr/>
          <p:nvPr/>
        </p:nvSpPr>
        <p:spPr>
          <a:xfrm>
            <a:off x="8383829" y="2560320"/>
            <a:ext cx="2710586" cy="457200"/>
          </a:xfrm>
          <a:prstGeom prst="rect">
            <a:avLst/>
          </a:prstGeom>
          <a:noFill/>
          <a:ln/>
        </p:spPr>
        <p:txBody>
          <a:bodyPr wrap="square" lIns="0" tIns="0" rIns="0" bIns="0" rtlCol="0" anchor="t"/>
          <a:lstStyle/>
          <a:p>
            <a:pPr indent="0" marL="0">
              <a:buNone/>
            </a:pPr>
            <a:r>
              <a:rPr lang="en-US" sz="1800" b="1" dirty="0">
                <a:solidFill>
                  <a:srgbClr val="222222"/>
                </a:solidFill>
                <a:latin typeface="Yu Gothic" pitchFamily="34" charset="0"/>
                <a:ea typeface="Yu Gothic" pitchFamily="34" charset="-122"/>
                <a:cs typeface="Yu Gothic" pitchFamily="34" charset="-120"/>
              </a:rPr>
              <a:t>ものづくり支援アプリ</a:t>
            </a:r>
            <a:endParaRPr lang="en-US" sz="1800" dirty="0"/>
          </a:p>
        </p:txBody>
      </p:sp>
      <p:sp>
        <p:nvSpPr>
          <p:cNvPr id="20" name="Text 18"/>
          <p:cNvSpPr/>
          <p:nvPr/>
        </p:nvSpPr>
        <p:spPr>
          <a:xfrm>
            <a:off x="8383829" y="3154680"/>
            <a:ext cx="2692298" cy="1737360"/>
          </a:xfrm>
          <a:prstGeom prst="rect">
            <a:avLst/>
          </a:prstGeom>
          <a:noFill/>
          <a:ln/>
        </p:spPr>
        <p:txBody>
          <a:bodyPr wrap="square" lIns="0" tIns="0" rIns="0" bIns="0" rtlCol="0" anchor="t"/>
          <a:lstStyle/>
          <a:p>
            <a:pPr indent="0" marL="0">
              <a:lnSpc>
                <a:spcPct val="132000"/>
              </a:lnSpc>
              <a:spcAft>
                <a:spcPts val="600"/>
              </a:spcAft>
              <a:buNone/>
            </a:pPr>
            <a:r>
              <a:rPr lang="en-US" sz="1250" strike="sngStrike" dirty="0">
                <a:solidFill>
                  <a:srgbClr val="A8A8A8"/>
                </a:solidFill>
                <a:latin typeface="Yu Gothic" pitchFamily="34" charset="0"/>
                <a:ea typeface="Yu Gothic" pitchFamily="34" charset="-122"/>
                <a:cs typeface="Yu Gothic" pitchFamily="34" charset="-120"/>
              </a:rPr>
              <a:t>デザインから加工データまでを一つの流れでつなぐ、設計製作補助ツール。データベース・CAD・CAMの3つにアクセスできる。</a:t>
            </a:r>
            <a:endParaRPr lang="en-US" sz="1250" dirty="0"/>
          </a:p>
          <a:p>
            <a:pPr indent="0" marL="0">
              <a:buNone/>
            </a:pPr>
            <a:r>
              <a:rPr lang="en-US" sz="1100" b="1" dirty="0">
                <a:solidFill>
                  <a:srgbClr val="B8772E"/>
                </a:solidFill>
                <a:latin typeface="Yu Gothic" pitchFamily="34" charset="0"/>
                <a:ea typeface="Yu Gothic" pitchFamily="34" charset="-122"/>
                <a:cs typeface="Yu Gothic" pitchFamily="34" charset="-120"/>
              </a:rPr>
              <a:t>※ 説明文は再検討中</a:t>
            </a:r>
            <a:endParaRPr lang="en-US" sz="1250" dirty="0"/>
          </a:p>
        </p:txBody>
      </p:sp>
      <p:sp>
        <p:nvSpPr>
          <p:cNvPr id="21" name="Shape 19"/>
          <p:cNvSpPr/>
          <p:nvPr/>
        </p:nvSpPr>
        <p:spPr>
          <a:xfrm>
            <a:off x="8383829" y="4919472"/>
            <a:ext cx="2692298" cy="10973"/>
          </a:xfrm>
          <a:prstGeom prst="rect">
            <a:avLst/>
          </a:prstGeom>
          <a:solidFill>
            <a:srgbClr val="E4E1DC"/>
          </a:solidFill>
          <a:ln/>
        </p:spPr>
      </p:sp>
      <p:sp>
        <p:nvSpPr>
          <p:cNvPr id="22" name="Text 20"/>
          <p:cNvSpPr/>
          <p:nvPr/>
        </p:nvSpPr>
        <p:spPr>
          <a:xfrm>
            <a:off x="8383829" y="5029200"/>
            <a:ext cx="2710586" cy="320040"/>
          </a:xfrm>
          <a:prstGeom prst="rect">
            <a:avLst/>
          </a:prstGeom>
          <a:noFill/>
          <a:ln/>
        </p:spPr>
        <p:txBody>
          <a:bodyPr wrap="square" lIns="0" tIns="0" rIns="0" bIns="0" rtlCol="0" anchor="t"/>
          <a:lstStyle/>
          <a:p>
            <a:pPr indent="0" marL="0">
              <a:buNone/>
            </a:pPr>
            <a:r>
              <a:rPr lang="en-US" sz="1200" b="1" dirty="0">
                <a:solidFill>
                  <a:srgbClr val="B8772E"/>
                </a:solidFill>
                <a:latin typeface="Yu Gothic" pitchFamily="34" charset="0"/>
                <a:ea typeface="Yu Gothic" pitchFamily="34" charset="-122"/>
                <a:cs typeface="Yu Gothic" pitchFamily="34" charset="-120"/>
              </a:rPr>
              <a:t>→ EMARF / NESTING</a:t>
            </a:r>
            <a:endParaRPr lang="en-US" sz="1200" dirty="0"/>
          </a:p>
        </p:txBody>
      </p:sp>
      <p:sp>
        <p:nvSpPr>
          <p:cNvPr id="23" name="Text 21"/>
          <p:cNvSpPr/>
          <p:nvPr/>
        </p:nvSpPr>
        <p:spPr>
          <a:xfrm>
            <a:off x="841248" y="5715000"/>
            <a:ext cx="10509199" cy="320040"/>
          </a:xfrm>
          <a:prstGeom prst="rect">
            <a:avLst/>
          </a:prstGeom>
          <a:noFill/>
          <a:ln/>
        </p:spPr>
        <p:txBody>
          <a:bodyPr wrap="square" lIns="0" tIns="0" rIns="0" bIns="0" rtlCol="0" anchor="t"/>
          <a:lstStyle/>
          <a:p>
            <a:pPr indent="0" marL="0">
              <a:buNone/>
            </a:pPr>
            <a:r>
              <a:rPr lang="en-US" sz="1100" dirty="0">
                <a:solidFill>
                  <a:srgbClr val="A8A8A8"/>
                </a:solidFill>
                <a:latin typeface="Yu Gothic" pitchFamily="34" charset="0"/>
                <a:ea typeface="Yu Gothic" pitchFamily="34" charset="-122"/>
                <a:cs typeface="Yu Gothic" pitchFamily="34" charset="-120"/>
              </a:rPr>
              <a:t>関連リンク：CMS上で各ソリューションの記事へ接続する想定</a:t>
            </a:r>
            <a:endParaRPr lang="en-US" sz="1100" dirty="0"/>
          </a:p>
        </p:txBody>
      </p:sp>
      <p:sp>
        <p:nvSpPr>
          <p:cNvPr id="24" name="Text 22"/>
          <p:cNvSpPr/>
          <p:nvPr/>
        </p:nvSpPr>
        <p:spPr>
          <a:xfrm>
            <a:off x="841248" y="6400800"/>
            <a:ext cx="7315200" cy="274320"/>
          </a:xfrm>
          <a:prstGeom prst="rect">
            <a:avLst/>
          </a:prstGeom>
          <a:noFill/>
          <a:ln/>
        </p:spPr>
        <p:txBody>
          <a:bodyPr wrap="square" lIns="0" tIns="0" rIns="0" bIns="0" rtlCol="0" anchor="t"/>
          <a:lstStyle/>
          <a:p>
            <a:pPr indent="0" marL="0">
              <a:buNone/>
            </a:pPr>
            <a:r>
              <a:rPr lang="en-US" sz="900" dirty="0">
                <a:solidFill>
                  <a:srgbClr val="A8A8A8"/>
                </a:solidFill>
                <a:latin typeface="Yu Gothic" pitchFamily="34" charset="0"/>
                <a:ea typeface="Yu Gothic" pitchFamily="34" charset="-122"/>
                <a:cs typeface="Yu Gothic" pitchFamily="34" charset="-120"/>
              </a:rPr>
              <a:t>Incubation Team OKR ・ リーダー定例 2026-06-28</a:t>
            </a:r>
            <a:endParaRPr lang="en-US" sz="900" dirty="0"/>
          </a:p>
        </p:txBody>
      </p:sp>
      <p:sp>
        <p:nvSpPr>
          <p:cNvPr id="25" name="Text 23"/>
          <p:cNvSpPr/>
          <p:nvPr/>
        </p:nvSpPr>
        <p:spPr>
          <a:xfrm>
            <a:off x="10436047" y="6400800"/>
            <a:ext cx="914400" cy="274320"/>
          </a:xfrm>
          <a:prstGeom prst="rect">
            <a:avLst/>
          </a:prstGeom>
          <a:noFill/>
          <a:ln/>
        </p:spPr>
        <p:txBody>
          <a:bodyPr wrap="square" lIns="0" tIns="0" rIns="0" bIns="0" rtlCol="0" anchor="t"/>
          <a:lstStyle/>
          <a:p>
            <a:pPr algn="r" indent="0" marL="0">
              <a:buNone/>
            </a:pPr>
            <a:r>
              <a:rPr lang="en-US" sz="900" dirty="0">
                <a:solidFill>
                  <a:srgbClr val="A8A8A8"/>
                </a:solidFill>
                <a:latin typeface="Yu Gothic" pitchFamily="34" charset="0"/>
                <a:ea typeface="Yu Gothic" pitchFamily="34" charset="-122"/>
                <a:cs typeface="Yu Gothic"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DFCFA"/>
        </a:solidFill>
      </p:bgPr>
    </p:bg>
    <p:spTree>
      <p:nvGrpSpPr>
        <p:cNvPr id="1" name=""/>
        <p:cNvGrpSpPr/>
        <p:nvPr/>
      </p:nvGrpSpPr>
      <p:grpSpPr>
        <a:xfrm>
          <a:off x="0" y="0"/>
          <a:ext cx="0" cy="0"/>
          <a:chOff x="0" y="0"/>
          <a:chExt cx="0" cy="0"/>
        </a:xfrm>
      </p:grpSpPr>
      <p:sp>
        <p:nvSpPr>
          <p:cNvPr id="2" name="Shape 0"/>
          <p:cNvSpPr/>
          <p:nvPr/>
        </p:nvSpPr>
        <p:spPr>
          <a:xfrm>
            <a:off x="841248" y="566928"/>
            <a:ext cx="384048" cy="77724"/>
          </a:xfrm>
          <a:prstGeom prst="rect">
            <a:avLst/>
          </a:prstGeom>
          <a:solidFill>
            <a:srgbClr val="B8772E"/>
          </a:solidFill>
          <a:ln/>
        </p:spPr>
      </p:sp>
      <p:sp>
        <p:nvSpPr>
          <p:cNvPr id="3" name="Text 1"/>
          <p:cNvSpPr/>
          <p:nvPr/>
        </p:nvSpPr>
        <p:spPr>
          <a:xfrm>
            <a:off x="841248" y="731520"/>
            <a:ext cx="10509199" cy="365760"/>
          </a:xfrm>
          <a:prstGeom prst="rect">
            <a:avLst/>
          </a:prstGeom>
          <a:noFill/>
          <a:ln/>
        </p:spPr>
        <p:txBody>
          <a:bodyPr wrap="square" lIns="0" tIns="0" rIns="0" bIns="0" rtlCol="0" anchor="t"/>
          <a:lstStyle/>
          <a:p>
            <a:pPr indent="0" marL="0">
              <a:buNone/>
            </a:pPr>
            <a:r>
              <a:rPr lang="en-US" sz="1350" b="1" dirty="0">
                <a:solidFill>
                  <a:srgbClr val="B8772E"/>
                </a:solidFill>
                <a:latin typeface="Yu Gothic" pitchFamily="34" charset="0"/>
                <a:ea typeface="Yu Gothic" pitchFamily="34" charset="-122"/>
                <a:cs typeface="Yu Gothic" pitchFamily="34" charset="-120"/>
              </a:rPr>
              <a:t>What we do ｜ Project</a:t>
            </a:r>
            <a:endParaRPr lang="en-US" sz="1350" dirty="0"/>
          </a:p>
        </p:txBody>
      </p:sp>
      <p:sp>
        <p:nvSpPr>
          <p:cNvPr id="4" name="Text 2"/>
          <p:cNvSpPr/>
          <p:nvPr/>
        </p:nvSpPr>
        <p:spPr>
          <a:xfrm>
            <a:off x="841248" y="1078992"/>
            <a:ext cx="10509199" cy="868680"/>
          </a:xfrm>
          <a:prstGeom prst="rect">
            <a:avLst/>
          </a:prstGeom>
          <a:noFill/>
          <a:ln/>
        </p:spPr>
        <p:txBody>
          <a:bodyPr wrap="square" lIns="0" tIns="0" rIns="0" bIns="0" rtlCol="0" anchor="t"/>
          <a:lstStyle/>
          <a:p>
            <a:pPr indent="0" marL="0">
              <a:lnSpc>
                <a:spcPct val="105000"/>
              </a:lnSpc>
              <a:buNone/>
            </a:pPr>
            <a:r>
              <a:rPr lang="en-US" sz="2600" b="1" dirty="0">
                <a:solidFill>
                  <a:srgbClr val="222222"/>
                </a:solidFill>
                <a:latin typeface="Yu Gothic" pitchFamily="34" charset="0"/>
                <a:ea typeface="Yu Gothic" pitchFamily="34" charset="-122"/>
                <a:cs typeface="Yu Gothic" pitchFamily="34" charset="-120"/>
              </a:rPr>
              <a:t>関連プロジェクト（CMS掲載予定）</a:t>
            </a:r>
            <a:endParaRPr lang="en-US" sz="2600" dirty="0"/>
          </a:p>
        </p:txBody>
      </p:sp>
      <p:sp>
        <p:nvSpPr>
          <p:cNvPr id="5" name="Text 3"/>
          <p:cNvSpPr/>
          <p:nvPr/>
        </p:nvSpPr>
        <p:spPr>
          <a:xfrm>
            <a:off x="841248" y="1783080"/>
            <a:ext cx="10509199" cy="457200"/>
          </a:xfrm>
          <a:prstGeom prst="rect">
            <a:avLst/>
          </a:prstGeom>
          <a:noFill/>
          <a:ln/>
        </p:spPr>
        <p:txBody>
          <a:bodyPr wrap="square" lIns="0" tIns="0" rIns="0" bIns="0" rtlCol="0" anchor="t"/>
          <a:lstStyle/>
          <a:p>
            <a:pPr indent="0" marL="0">
              <a:lnSpc>
                <a:spcPct val="125000"/>
              </a:lnSpc>
              <a:buNone/>
            </a:pPr>
            <a:r>
              <a:rPr lang="en-US" sz="1100" dirty="0">
                <a:solidFill>
                  <a:srgbClr val="707070"/>
                </a:solidFill>
                <a:latin typeface="Yu Gothic" pitchFamily="34" charset="0"/>
                <a:ea typeface="Yu Gothic" pitchFamily="34" charset="-122"/>
                <a:cs typeface="Yu Gothic" pitchFamily="34" charset="-120"/>
              </a:rPr>
              <a:t>想定タグ：教育／アプリ開発／林業／地域／共創／ShopBot導入支援／拠点開拓／カルチャー協業？　※全体で使うタグと合わせて調整</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41248" y="2468880"/>
          <a:ext cx="10509199" cy="914400"/>
        </p:xfrm>
        <a:graphic>
          <a:graphicData uri="http://schemas.openxmlformats.org/drawingml/2006/table">
            <a:tbl>
              <a:tblPr/>
              <a:tblGrid>
                <a:gridCol w="914400"/>
                <a:gridCol w="4572000"/>
                <a:gridCol w="5022799"/>
              </a:tblGrid>
              <a:tr h="384048">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PJ</a:t>
                      </a:r>
                      <a:endParaRPr lang="en-US" sz="1200" dirty="0">
                        <a:latin typeface="Yu Gothic" charset="0"/>
                        <a:ea typeface="Yu Gothic" charset="0"/>
                        <a:cs typeface="Yu Gothic" charset="0"/>
                      </a:endParaRPr>
                    </a:p>
                  </a:txBody>
                  <a:tcPr marL="101600" marR="101600" marT="38100" marB="381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222222"/>
                    </a:solidFill>
                  </a:tcPr>
                </a:tc>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プロジェクト</a:t>
                      </a:r>
                      <a:endParaRPr lang="en-US" sz="1200" dirty="0">
                        <a:latin typeface="Yu Gothic" charset="0"/>
                        <a:ea typeface="Yu Gothic" charset="0"/>
                        <a:cs typeface="Yu Gothic" charset="0"/>
                      </a:endParaRPr>
                    </a:p>
                  </a:txBody>
                  <a:tcPr marL="101600" marR="101600" marT="38100" marB="381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222222"/>
                    </a:solidFill>
                  </a:tcPr>
                </a:tc>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メモ／ステータス</a:t>
                      </a:r>
                      <a:endParaRPr lang="en-US" sz="1200" dirty="0">
                        <a:latin typeface="Yu Gothic" charset="0"/>
                        <a:ea typeface="Yu Gothic" charset="0"/>
                        <a:cs typeface="Yu Gothic" charset="0"/>
                      </a:endParaRPr>
                    </a:p>
                  </a:txBody>
                  <a:tcPr marL="101600" marR="101600" marT="38100" marB="381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222222"/>
                    </a:solidFill>
                  </a:tcPr>
                </a:tc>
              </a:tr>
              <a:tr h="365760">
                <a:tc>
                  <a:txBody>
                    <a:bodyPr/>
                    <a:lstStyle/>
                    <a:p>
                      <a:pPr indent="0" marL="0">
                        <a:buNone/>
                      </a:pPr>
                      <a:r>
                        <a:rPr lang="en-US" sz="1200" b="1" dirty="0">
                          <a:solidFill>
                            <a:srgbClr val="B8772E"/>
                          </a:solidFill>
                          <a:latin typeface="Yu Gothic" pitchFamily="34" charset="0"/>
                          <a:ea typeface="Yu Gothic" pitchFamily="34" charset="-122"/>
                          <a:cs typeface="Yu Gothic" pitchFamily="34" charset="-120"/>
                        </a:rPr>
                        <a:t>PJ1</a:t>
                      </a:r>
                      <a:endParaRPr lang="en-US" sz="1200" dirty="0">
                        <a:latin typeface="Yu Gothic" charset="0"/>
                        <a:ea typeface="Yu Gothic" charset="0"/>
                        <a:cs typeface="Yu Gothic" charset="0"/>
                      </a:endParaRPr>
                    </a:p>
                  </a:txBody>
                  <a:tcPr marL="101600" marR="101600" marT="38100" marB="381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FFFFF"/>
                    </a:solidFill>
                  </a:tcPr>
                </a:tc>
                <a:tc>
                  <a:txBody>
                    <a:bodyPr/>
                    <a:lstStyle/>
                    <a:p>
                      <a:pPr indent="0" marL="0">
                        <a:buNone/>
                      </a:pPr>
                      <a:r>
                        <a:rPr lang="en-US" sz="1200" b="1" dirty="0">
                          <a:solidFill>
                            <a:srgbClr val="222222"/>
                          </a:solidFill>
                          <a:latin typeface="Yu Gothic" pitchFamily="34" charset="0"/>
                          <a:ea typeface="Yu Gothic" pitchFamily="34" charset="-122"/>
                          <a:cs typeface="Yu Gothic" pitchFamily="34" charset="-120"/>
                        </a:rPr>
                        <a:t>倉吉探求学習プログラム</a:t>
                      </a:r>
                      <a:endParaRPr lang="en-US" sz="1200" dirty="0">
                        <a:latin typeface="Yu Gothic" charset="0"/>
                        <a:ea typeface="Yu Gothic" charset="0"/>
                        <a:cs typeface="Yu Gothic" charset="0"/>
                      </a:endParaRPr>
                    </a:p>
                  </a:txBody>
                  <a:tcPr marL="101600" marR="101600" marT="38100" marB="381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FFFFF"/>
                    </a:solidFill>
                  </a:tcPr>
                </a:tc>
                <a:tc>
                  <a:txBody>
                    <a:bodyPr/>
                    <a:lstStyle/>
                    <a:p>
                      <a:pPr indent="0" marL="0">
                        <a:buNone/>
                      </a:pPr>
                      <a:endParaRPr lang="en-US" sz="1100" dirty="0">
                        <a:latin typeface="Yu Gothic" charset="0"/>
                        <a:ea typeface="Yu Gothic" charset="0"/>
                        <a:cs typeface="Yu Gothic" charset="0"/>
                      </a:endParaRPr>
                    </a:p>
                  </a:txBody>
                  <a:tcPr marL="101600" marR="101600" marT="38100" marB="381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B8772E"/>
                          </a:solidFill>
                          <a:latin typeface="Yu Gothic" pitchFamily="34" charset="0"/>
                          <a:ea typeface="Yu Gothic" pitchFamily="34" charset="-122"/>
                          <a:cs typeface="Yu Gothic" pitchFamily="34" charset="-120"/>
                        </a:rPr>
                        <a:t>PJ2</a:t>
                      </a:r>
                      <a:endParaRPr lang="en-US" sz="1200" dirty="0">
                        <a:latin typeface="Yu Gothic" charset="0"/>
                        <a:ea typeface="Yu Gothic" charset="0"/>
                        <a:cs typeface="Yu Gothic" charset="0"/>
                      </a:endParaRPr>
                    </a:p>
                  </a:txBody>
                  <a:tcPr marL="101600" marR="101600" marT="38100" marB="381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7F2EA"/>
                    </a:solidFill>
                  </a:tcPr>
                </a:tc>
                <a:tc>
                  <a:txBody>
                    <a:bodyPr/>
                    <a:lstStyle/>
                    <a:p>
                      <a:pPr indent="0" marL="0">
                        <a:buNone/>
                      </a:pPr>
                      <a:r>
                        <a:rPr lang="en-US" sz="1200" b="1" dirty="0">
                          <a:solidFill>
                            <a:srgbClr val="222222"/>
                          </a:solidFill>
                          <a:latin typeface="Yu Gothic" pitchFamily="34" charset="0"/>
                          <a:ea typeface="Yu Gothic" pitchFamily="34" charset="-122"/>
                          <a:cs typeface="Yu Gothic" pitchFamily="34" charset="-120"/>
                        </a:rPr>
                        <a:t>名古屋キャリア教育授業　2022–2025</a:t>
                      </a:r>
                      <a:endParaRPr lang="en-US" sz="1200" dirty="0">
                        <a:latin typeface="Yu Gothic" charset="0"/>
                        <a:ea typeface="Yu Gothic" charset="0"/>
                        <a:cs typeface="Yu Gothic" charset="0"/>
                      </a:endParaRPr>
                    </a:p>
                  </a:txBody>
                  <a:tcPr marL="101600" marR="101600" marT="38100" marB="381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7F2EA"/>
                    </a:solidFill>
                  </a:tcPr>
                </a:tc>
                <a:tc>
                  <a:txBody>
                    <a:bodyPr/>
                    <a:lstStyle/>
                    <a:p>
                      <a:pPr indent="0" marL="0">
                        <a:buNone/>
                      </a:pPr>
                      <a:endParaRPr lang="en-US" sz="1100" dirty="0">
                        <a:latin typeface="Yu Gothic" charset="0"/>
                        <a:ea typeface="Yu Gothic" charset="0"/>
                        <a:cs typeface="Yu Gothic" charset="0"/>
                      </a:endParaRPr>
                    </a:p>
                  </a:txBody>
                  <a:tcPr marL="101600" marR="101600" marT="38100" marB="381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7F2EA"/>
                    </a:solidFill>
                  </a:tcPr>
                </a:tc>
              </a:tr>
              <a:tr h="365760">
                <a:tc>
                  <a:txBody>
                    <a:bodyPr/>
                    <a:lstStyle/>
                    <a:p>
                      <a:pPr indent="0" marL="0">
                        <a:buNone/>
                      </a:pPr>
                      <a:r>
                        <a:rPr lang="en-US" sz="1200" b="1" dirty="0">
                          <a:solidFill>
                            <a:srgbClr val="B8772E"/>
                          </a:solidFill>
                          <a:latin typeface="Yu Gothic" pitchFamily="34" charset="0"/>
                          <a:ea typeface="Yu Gothic" pitchFamily="34" charset="-122"/>
                          <a:cs typeface="Yu Gothic" pitchFamily="34" charset="-120"/>
                        </a:rPr>
                        <a:t>PJ3</a:t>
                      </a:r>
                      <a:endParaRPr lang="en-US" sz="1200" dirty="0">
                        <a:latin typeface="Yu Gothic" charset="0"/>
                        <a:ea typeface="Yu Gothic" charset="0"/>
                        <a:cs typeface="Yu Gothic" charset="0"/>
                      </a:endParaRPr>
                    </a:p>
                  </a:txBody>
                  <a:tcPr marL="101600" marR="101600" marT="38100" marB="381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FFFFF"/>
                    </a:solidFill>
                  </a:tcPr>
                </a:tc>
                <a:tc>
                  <a:txBody>
                    <a:bodyPr/>
                    <a:lstStyle/>
                    <a:p>
                      <a:pPr indent="0" marL="0">
                        <a:buNone/>
                      </a:pPr>
                      <a:r>
                        <a:rPr lang="en-US" sz="1200" b="1" dirty="0">
                          <a:solidFill>
                            <a:srgbClr val="222222"/>
                          </a:solidFill>
                          <a:latin typeface="Yu Gothic" pitchFamily="34" charset="0"/>
                          <a:ea typeface="Yu Gothic" pitchFamily="34" charset="-122"/>
                          <a:cs typeface="Yu Gothic" pitchFamily="34" charset="-120"/>
                        </a:rPr>
                        <a:t>EMARF for Owners</a:t>
                      </a:r>
                      <a:endParaRPr lang="en-US" sz="1200" dirty="0">
                        <a:latin typeface="Yu Gothic" charset="0"/>
                        <a:ea typeface="Yu Gothic" charset="0"/>
                        <a:cs typeface="Yu Gothic" charset="0"/>
                      </a:endParaRPr>
                    </a:p>
                  </a:txBody>
                  <a:tcPr marL="101600" marR="101600" marT="38100" marB="381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FFFFF"/>
                    </a:solidFill>
                  </a:tcPr>
                </a:tc>
                <a:tc>
                  <a:txBody>
                    <a:bodyPr/>
                    <a:lstStyle/>
                    <a:p>
                      <a:pPr indent="0" marL="0">
                        <a:buNone/>
                      </a:pPr>
                      <a:endParaRPr lang="en-US" sz="1100" dirty="0">
                        <a:latin typeface="Yu Gothic" charset="0"/>
                        <a:ea typeface="Yu Gothic" charset="0"/>
                        <a:cs typeface="Yu Gothic" charset="0"/>
                      </a:endParaRPr>
                    </a:p>
                  </a:txBody>
                  <a:tcPr marL="101600" marR="101600" marT="38100" marB="381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B8772E"/>
                          </a:solidFill>
                          <a:latin typeface="Yu Gothic" pitchFamily="34" charset="0"/>
                          <a:ea typeface="Yu Gothic" pitchFamily="34" charset="-122"/>
                          <a:cs typeface="Yu Gothic" pitchFamily="34" charset="-120"/>
                        </a:rPr>
                        <a:t>PJ4</a:t>
                      </a:r>
                      <a:endParaRPr lang="en-US" sz="1200" dirty="0">
                        <a:latin typeface="Yu Gothic" charset="0"/>
                        <a:ea typeface="Yu Gothic" charset="0"/>
                        <a:cs typeface="Yu Gothic" charset="0"/>
                      </a:endParaRPr>
                    </a:p>
                  </a:txBody>
                  <a:tcPr marL="101600" marR="101600" marT="38100" marB="381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7F2EA"/>
                    </a:solidFill>
                  </a:tcPr>
                </a:tc>
                <a:tc>
                  <a:txBody>
                    <a:bodyPr/>
                    <a:lstStyle/>
                    <a:p>
                      <a:pPr indent="0" marL="0">
                        <a:buNone/>
                      </a:pPr>
                      <a:r>
                        <a:rPr lang="en-US" sz="1200" b="1" dirty="0">
                          <a:solidFill>
                            <a:srgbClr val="222222"/>
                          </a:solidFill>
                          <a:latin typeface="Yu Gothic" pitchFamily="34" charset="0"/>
                          <a:ea typeface="Yu Gothic" pitchFamily="34" charset="-122"/>
                          <a:cs typeface="Yu Gothic" pitchFamily="34" charset="-120"/>
                        </a:rPr>
                        <a:t>ヴィルダーズサクセスプラン（VSP）</a:t>
                      </a:r>
                      <a:endParaRPr lang="en-US" sz="1200" dirty="0">
                        <a:latin typeface="Yu Gothic" charset="0"/>
                        <a:ea typeface="Yu Gothic" charset="0"/>
                        <a:cs typeface="Yu Gothic" charset="0"/>
                      </a:endParaRPr>
                    </a:p>
                  </a:txBody>
                  <a:tcPr marL="101600" marR="101600" marT="38100" marB="381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7F2EA"/>
                    </a:solidFill>
                  </a:tcPr>
                </a:tc>
                <a:tc>
                  <a:txBody>
                    <a:bodyPr/>
                    <a:lstStyle/>
                    <a:p>
                      <a:pPr indent="0" marL="0">
                        <a:buNone/>
                      </a:pPr>
                      <a:r>
                        <a:rPr lang="en-US" sz="1100" dirty="0">
                          <a:solidFill>
                            <a:srgbClr val="B8772E"/>
                          </a:solidFill>
                          <a:latin typeface="Yu Gothic" pitchFamily="34" charset="0"/>
                          <a:ea typeface="Yu Gothic" pitchFamily="34" charset="-122"/>
                          <a:cs typeface="Yu Gothic" pitchFamily="34" charset="-120"/>
                        </a:rPr>
                        <a:t>活用オーナーの声を集める（コンセントファニチャー・三祐木材 等）</a:t>
                      </a:r>
                      <a:endParaRPr lang="en-US" sz="1100" dirty="0">
                        <a:latin typeface="Yu Gothic" charset="0"/>
                        <a:ea typeface="Yu Gothic" charset="0"/>
                        <a:cs typeface="Yu Gothic" charset="0"/>
                      </a:endParaRPr>
                    </a:p>
                  </a:txBody>
                  <a:tcPr marL="101600" marR="101600" marT="38100" marB="381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7F2EA"/>
                    </a:solidFill>
                  </a:tcPr>
                </a:tc>
              </a:tr>
              <a:tr h="365760">
                <a:tc>
                  <a:txBody>
                    <a:bodyPr/>
                    <a:lstStyle/>
                    <a:p>
                      <a:pPr indent="0" marL="0">
                        <a:buNone/>
                      </a:pPr>
                      <a:r>
                        <a:rPr lang="en-US" sz="1200" b="1" dirty="0">
                          <a:solidFill>
                            <a:srgbClr val="B8772E"/>
                          </a:solidFill>
                          <a:latin typeface="Yu Gothic" pitchFamily="34" charset="0"/>
                          <a:ea typeface="Yu Gothic" pitchFamily="34" charset="-122"/>
                          <a:cs typeface="Yu Gothic" pitchFamily="34" charset="-120"/>
                        </a:rPr>
                        <a:t>PJ5</a:t>
                      </a:r>
                      <a:endParaRPr lang="en-US" sz="1200" dirty="0">
                        <a:latin typeface="Yu Gothic" charset="0"/>
                        <a:ea typeface="Yu Gothic" charset="0"/>
                        <a:cs typeface="Yu Gothic" charset="0"/>
                      </a:endParaRPr>
                    </a:p>
                  </a:txBody>
                  <a:tcPr marL="101600" marR="101600" marT="38100" marB="381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FFFFF"/>
                    </a:solidFill>
                  </a:tcPr>
                </a:tc>
                <a:tc>
                  <a:txBody>
                    <a:bodyPr/>
                    <a:lstStyle/>
                    <a:p>
                      <a:pPr indent="0" marL="0">
                        <a:buNone/>
                      </a:pPr>
                      <a:r>
                        <a:rPr lang="en-US" sz="1200" b="1" dirty="0">
                          <a:solidFill>
                            <a:srgbClr val="222222"/>
                          </a:solidFill>
                          <a:latin typeface="Yu Gothic" pitchFamily="34" charset="0"/>
                          <a:ea typeface="Yu Gothic" pitchFamily="34" charset="-122"/>
                          <a:cs typeface="Yu Gothic" pitchFamily="34" charset="-120"/>
                        </a:rPr>
                        <a:t>Co-BUILD</a:t>
                      </a:r>
                      <a:endParaRPr lang="en-US" sz="1200" dirty="0">
                        <a:latin typeface="Yu Gothic" charset="0"/>
                        <a:ea typeface="Yu Gothic" charset="0"/>
                        <a:cs typeface="Yu Gothic" charset="0"/>
                      </a:endParaRPr>
                    </a:p>
                  </a:txBody>
                  <a:tcPr marL="101600" marR="101600" marT="38100" marB="381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FFFFF"/>
                    </a:solidFill>
                  </a:tcPr>
                </a:tc>
                <a:tc>
                  <a:txBody>
                    <a:bodyPr/>
                    <a:lstStyle/>
                    <a:p>
                      <a:pPr indent="0" marL="0">
                        <a:buNone/>
                      </a:pPr>
                      <a:r>
                        <a:rPr lang="en-US" sz="1100" dirty="0">
                          <a:solidFill>
                            <a:srgbClr val="B8772E"/>
                          </a:solidFill>
                          <a:latin typeface="Yu Gothic" pitchFamily="34" charset="0"/>
                          <a:ea typeface="Yu Gothic" pitchFamily="34" charset="-122"/>
                          <a:cs typeface="Yu Gothic" pitchFamily="34" charset="-120"/>
                        </a:rPr>
                        <a:t>要議論</a:t>
                      </a:r>
                      <a:endParaRPr lang="en-US" sz="1100" dirty="0">
                        <a:latin typeface="Yu Gothic" charset="0"/>
                        <a:ea typeface="Yu Gothic" charset="0"/>
                        <a:cs typeface="Yu Gothic" charset="0"/>
                      </a:endParaRPr>
                    </a:p>
                  </a:txBody>
                  <a:tcPr marL="101600" marR="101600" marT="38100" marB="381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B8772E"/>
                          </a:solidFill>
                          <a:latin typeface="Yu Gothic" pitchFamily="34" charset="0"/>
                          <a:ea typeface="Yu Gothic" pitchFamily="34" charset="-122"/>
                          <a:cs typeface="Yu Gothic" pitchFamily="34" charset="-120"/>
                        </a:rPr>
                        <a:t>PJ6</a:t>
                      </a:r>
                      <a:endParaRPr lang="en-US" sz="1200" dirty="0">
                        <a:latin typeface="Yu Gothic" charset="0"/>
                        <a:ea typeface="Yu Gothic" charset="0"/>
                        <a:cs typeface="Yu Gothic" charset="0"/>
                      </a:endParaRPr>
                    </a:p>
                  </a:txBody>
                  <a:tcPr marL="101600" marR="101600" marT="38100" marB="381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7F2EA"/>
                    </a:solidFill>
                  </a:tcPr>
                </a:tc>
                <a:tc>
                  <a:txBody>
                    <a:bodyPr/>
                    <a:lstStyle/>
                    <a:p>
                      <a:pPr indent="0" marL="0">
                        <a:buNone/>
                      </a:pPr>
                      <a:r>
                        <a:rPr lang="en-US" sz="1200" b="1" dirty="0">
                          <a:solidFill>
                            <a:srgbClr val="222222"/>
                          </a:solidFill>
                          <a:latin typeface="Yu Gothic" pitchFamily="34" charset="0"/>
                          <a:ea typeface="Yu Gothic" pitchFamily="34" charset="-122"/>
                          <a:cs typeface="Yu Gothic" pitchFamily="34" charset="-120"/>
                        </a:rPr>
                        <a:t>既存EMARF（プレカットサービス）</a:t>
                      </a:r>
                      <a:endParaRPr lang="en-US" sz="1200" dirty="0">
                        <a:latin typeface="Yu Gothic" charset="0"/>
                        <a:ea typeface="Yu Gothic" charset="0"/>
                        <a:cs typeface="Yu Gothic" charset="0"/>
                      </a:endParaRPr>
                    </a:p>
                  </a:txBody>
                  <a:tcPr marL="101600" marR="101600" marT="38100" marB="381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7F2EA"/>
                    </a:solidFill>
                  </a:tcPr>
                </a:tc>
                <a:tc>
                  <a:txBody>
                    <a:bodyPr/>
                    <a:lstStyle/>
                    <a:p>
                      <a:pPr indent="0" marL="0">
                        <a:buNone/>
                      </a:pPr>
                      <a:r>
                        <a:rPr lang="en-US" sz="1100" dirty="0">
                          <a:solidFill>
                            <a:srgbClr val="B8772E"/>
                          </a:solidFill>
                          <a:latin typeface="Yu Gothic" pitchFamily="34" charset="0"/>
                          <a:ea typeface="Yu Gothic" pitchFamily="34" charset="-122"/>
                          <a:cs typeface="Yu Gothic" pitchFamily="34" charset="-120"/>
                        </a:rPr>
                        <a:t>「EMARFとは」の再定義が必要</a:t>
                      </a:r>
                      <a:endParaRPr lang="en-US" sz="1100" dirty="0">
                        <a:latin typeface="Yu Gothic" charset="0"/>
                        <a:ea typeface="Yu Gothic" charset="0"/>
                        <a:cs typeface="Yu Gothic" charset="0"/>
                      </a:endParaRPr>
                    </a:p>
                  </a:txBody>
                  <a:tcPr marL="101600" marR="101600" marT="38100" marB="381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7F2EA"/>
                    </a:solidFill>
                  </a:tcPr>
                </a:tc>
              </a:tr>
              <a:tr h="365760">
                <a:tc>
                  <a:txBody>
                    <a:bodyPr/>
                    <a:lstStyle/>
                    <a:p>
                      <a:pPr indent="0" marL="0">
                        <a:buNone/>
                      </a:pPr>
                      <a:r>
                        <a:rPr lang="en-US" sz="1200" b="1" dirty="0">
                          <a:solidFill>
                            <a:srgbClr val="B8772E"/>
                          </a:solidFill>
                          <a:latin typeface="Yu Gothic" pitchFamily="34" charset="0"/>
                          <a:ea typeface="Yu Gothic" pitchFamily="34" charset="-122"/>
                          <a:cs typeface="Yu Gothic" pitchFamily="34" charset="-120"/>
                        </a:rPr>
                        <a:t>PJ7</a:t>
                      </a:r>
                      <a:endParaRPr lang="en-US" sz="1200" dirty="0">
                        <a:latin typeface="Yu Gothic" charset="0"/>
                        <a:ea typeface="Yu Gothic" charset="0"/>
                        <a:cs typeface="Yu Gothic" charset="0"/>
                      </a:endParaRPr>
                    </a:p>
                  </a:txBody>
                  <a:tcPr marL="101600" marR="101600" marT="38100" marB="381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FFFFF"/>
                    </a:solidFill>
                  </a:tcPr>
                </a:tc>
                <a:tc>
                  <a:txBody>
                    <a:bodyPr/>
                    <a:lstStyle/>
                    <a:p>
                      <a:pPr indent="0" marL="0">
                        <a:buNone/>
                      </a:pPr>
                      <a:r>
                        <a:rPr lang="en-US" sz="1200" b="1" dirty="0">
                          <a:solidFill>
                            <a:srgbClr val="222222"/>
                          </a:solidFill>
                          <a:latin typeface="Yu Gothic" pitchFamily="34" charset="0"/>
                          <a:ea typeface="Yu Gothic" pitchFamily="34" charset="-122"/>
                          <a:cs typeface="Yu Gothic" pitchFamily="34" charset="-120"/>
                        </a:rPr>
                        <a:t>Morimobi 岡崎</a:t>
                      </a:r>
                      <a:endParaRPr lang="en-US" sz="1200" dirty="0">
                        <a:latin typeface="Yu Gothic" charset="0"/>
                        <a:ea typeface="Yu Gothic" charset="0"/>
                        <a:cs typeface="Yu Gothic" charset="0"/>
                      </a:endParaRPr>
                    </a:p>
                  </a:txBody>
                  <a:tcPr marL="101600" marR="101600" marT="38100" marB="381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FFFFF"/>
                    </a:solidFill>
                  </a:tcPr>
                </a:tc>
                <a:tc>
                  <a:txBody>
                    <a:bodyPr/>
                    <a:lstStyle/>
                    <a:p>
                      <a:pPr indent="0" marL="0">
                        <a:buNone/>
                      </a:pPr>
                      <a:endParaRPr lang="en-US" sz="1100" dirty="0">
                        <a:latin typeface="Yu Gothic" charset="0"/>
                        <a:ea typeface="Yu Gothic" charset="0"/>
                        <a:cs typeface="Yu Gothic" charset="0"/>
                      </a:endParaRPr>
                    </a:p>
                  </a:txBody>
                  <a:tcPr marL="101600" marR="101600" marT="38100" marB="381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FFFFF"/>
                    </a:solidFill>
                  </a:tcPr>
                </a:tc>
              </a:tr>
              <a:tr h="365760">
                <a:tc>
                  <a:txBody>
                    <a:bodyPr/>
                    <a:lstStyle/>
                    <a:p>
                      <a:pPr indent="0" marL="0">
                        <a:buNone/>
                      </a:pPr>
                      <a:r>
                        <a:rPr lang="en-US" sz="1200" b="1" dirty="0">
                          <a:solidFill>
                            <a:srgbClr val="B8772E"/>
                          </a:solidFill>
                          <a:latin typeface="Yu Gothic" pitchFamily="34" charset="0"/>
                          <a:ea typeface="Yu Gothic" pitchFamily="34" charset="-122"/>
                          <a:cs typeface="Yu Gothic" pitchFamily="34" charset="-120"/>
                        </a:rPr>
                        <a:t>PJ8</a:t>
                      </a:r>
                      <a:endParaRPr lang="en-US" sz="1200" dirty="0">
                        <a:latin typeface="Yu Gothic" charset="0"/>
                        <a:ea typeface="Yu Gothic" charset="0"/>
                        <a:cs typeface="Yu Gothic" charset="0"/>
                      </a:endParaRPr>
                    </a:p>
                  </a:txBody>
                  <a:tcPr marL="101600" marR="101600" marT="38100" marB="381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7F2EA"/>
                    </a:solidFill>
                  </a:tcPr>
                </a:tc>
                <a:tc>
                  <a:txBody>
                    <a:bodyPr/>
                    <a:lstStyle/>
                    <a:p>
                      <a:pPr indent="0" marL="0">
                        <a:buNone/>
                      </a:pPr>
                      <a:r>
                        <a:rPr lang="en-US" sz="1200" b="1" dirty="0">
                          <a:solidFill>
                            <a:srgbClr val="222222"/>
                          </a:solidFill>
                          <a:latin typeface="Yu Gothic" pitchFamily="34" charset="0"/>
                          <a:ea typeface="Yu Gothic" pitchFamily="34" charset="-122"/>
                          <a:cs typeface="Yu Gothic" pitchFamily="34" charset="-120"/>
                        </a:rPr>
                        <a:t>久米製材</a:t>
                      </a:r>
                      <a:endParaRPr lang="en-US" sz="1200" dirty="0">
                        <a:latin typeface="Yu Gothic" charset="0"/>
                        <a:ea typeface="Yu Gothic" charset="0"/>
                        <a:cs typeface="Yu Gothic" charset="0"/>
                      </a:endParaRPr>
                    </a:p>
                  </a:txBody>
                  <a:tcPr marL="101600" marR="101600" marT="38100" marB="381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7F2EA"/>
                    </a:solidFill>
                  </a:tcPr>
                </a:tc>
                <a:tc>
                  <a:txBody>
                    <a:bodyPr/>
                    <a:lstStyle/>
                    <a:p>
                      <a:pPr indent="0" marL="0">
                        <a:buNone/>
                      </a:pPr>
                      <a:r>
                        <a:rPr lang="en-US" sz="1100" dirty="0">
                          <a:solidFill>
                            <a:srgbClr val="B8772E"/>
                          </a:solidFill>
                          <a:latin typeface="Yu Gothic" pitchFamily="34" charset="0"/>
                          <a:ea typeface="Yu Gothic" pitchFamily="34" charset="-122"/>
                          <a:cs typeface="Yu Gothic" pitchFamily="34" charset="-120"/>
                        </a:rPr>
                        <a:t>候補（検討中）</a:t>
                      </a:r>
                      <a:endParaRPr lang="en-US" sz="1100" dirty="0">
                        <a:latin typeface="Yu Gothic" charset="0"/>
                        <a:ea typeface="Yu Gothic" charset="0"/>
                        <a:cs typeface="Yu Gothic" charset="0"/>
                      </a:endParaRPr>
                    </a:p>
                  </a:txBody>
                  <a:tcPr marL="101600" marR="101600" marT="38100" marB="381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7F2EA"/>
                    </a:solidFill>
                  </a:tcPr>
                </a:tc>
              </a:tr>
              <a:tr h="365760">
                <a:tc>
                  <a:txBody>
                    <a:bodyPr/>
                    <a:lstStyle/>
                    <a:p>
                      <a:pPr indent="0" marL="0">
                        <a:buNone/>
                      </a:pPr>
                      <a:r>
                        <a:rPr lang="en-US" sz="1200" b="1" dirty="0">
                          <a:solidFill>
                            <a:srgbClr val="B8772E"/>
                          </a:solidFill>
                          <a:latin typeface="Yu Gothic" pitchFamily="34" charset="0"/>
                          <a:ea typeface="Yu Gothic" pitchFamily="34" charset="-122"/>
                          <a:cs typeface="Yu Gothic" pitchFamily="34" charset="-120"/>
                        </a:rPr>
                        <a:t>PJ9</a:t>
                      </a:r>
                      <a:endParaRPr lang="en-US" sz="1200" dirty="0">
                        <a:latin typeface="Yu Gothic" charset="0"/>
                        <a:ea typeface="Yu Gothic" charset="0"/>
                        <a:cs typeface="Yu Gothic" charset="0"/>
                      </a:endParaRPr>
                    </a:p>
                  </a:txBody>
                  <a:tcPr marL="101600" marR="101600" marT="38100" marB="381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FFFFF"/>
                    </a:solidFill>
                  </a:tcPr>
                </a:tc>
                <a:tc>
                  <a:txBody>
                    <a:bodyPr/>
                    <a:lstStyle/>
                    <a:p>
                      <a:pPr indent="0" marL="0">
                        <a:buNone/>
                      </a:pPr>
                      <a:r>
                        <a:rPr lang="en-US" sz="1200" b="1" dirty="0">
                          <a:solidFill>
                            <a:srgbClr val="222222"/>
                          </a:solidFill>
                          <a:latin typeface="Yu Gothic" pitchFamily="34" charset="0"/>
                          <a:ea typeface="Yu Gothic" pitchFamily="34" charset="-122"/>
                          <a:cs typeface="Yu Gothic" pitchFamily="34" charset="-120"/>
                        </a:rPr>
                        <a:t>松川</a:t>
                      </a:r>
                      <a:endParaRPr lang="en-US" sz="1200" dirty="0">
                        <a:latin typeface="Yu Gothic" charset="0"/>
                        <a:ea typeface="Yu Gothic" charset="0"/>
                        <a:cs typeface="Yu Gothic" charset="0"/>
                      </a:endParaRPr>
                    </a:p>
                  </a:txBody>
                  <a:tcPr marL="101600" marR="101600" marT="38100" marB="381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FFFFF"/>
                    </a:solidFill>
                  </a:tcPr>
                </a:tc>
                <a:tc>
                  <a:txBody>
                    <a:bodyPr/>
                    <a:lstStyle/>
                    <a:p>
                      <a:pPr indent="0" marL="0">
                        <a:buNone/>
                      </a:pPr>
                      <a:r>
                        <a:rPr lang="en-US" sz="1100" dirty="0">
                          <a:solidFill>
                            <a:srgbClr val="B8772E"/>
                          </a:solidFill>
                          <a:latin typeface="Yu Gothic" pitchFamily="34" charset="0"/>
                          <a:ea typeface="Yu Gothic" pitchFamily="34" charset="-122"/>
                          <a:cs typeface="Yu Gothic" pitchFamily="34" charset="-120"/>
                        </a:rPr>
                        <a:t>候補（検討中）</a:t>
                      </a:r>
                      <a:endParaRPr lang="en-US" sz="1100" dirty="0">
                        <a:latin typeface="Yu Gothic" charset="0"/>
                        <a:ea typeface="Yu Gothic" charset="0"/>
                        <a:cs typeface="Yu Gothic" charset="0"/>
                      </a:endParaRPr>
                    </a:p>
                  </a:txBody>
                  <a:tcPr marL="101600" marR="101600" marT="38100" marB="38100" anchor="ctr">
                    <a:lnL w="6350" cap="flat" cmpd="sng" algn="ctr">
                      <a:solidFill>
                        <a:srgbClr val="E4E1DC"/>
                      </a:solidFill>
                      <a:prstDash val="solid"/>
                      <a:round/>
                      <a:headEnd type="none" w="med" len="med"/>
                      <a:tailEnd type="none" w="med" len="med"/>
                    </a:lnL>
                    <a:lnR w="6350" cap="flat" cmpd="sng" algn="ctr">
                      <a:solidFill>
                        <a:srgbClr val="E4E1DC"/>
                      </a:solidFill>
                      <a:prstDash val="solid"/>
                      <a:round/>
                      <a:headEnd type="none" w="med" len="med"/>
                      <a:tailEnd type="none" w="med" len="med"/>
                    </a:lnR>
                    <a:lnT w="6350" cap="flat" cmpd="sng" algn="ctr">
                      <a:solidFill>
                        <a:srgbClr val="E4E1DC"/>
                      </a:solidFill>
                      <a:prstDash val="solid"/>
                      <a:round/>
                      <a:headEnd type="none" w="med" len="med"/>
                      <a:tailEnd type="none" w="med" len="med"/>
                    </a:lnT>
                    <a:lnB w="6350" cap="flat" cmpd="sng" algn="ctr">
                      <a:solidFill>
                        <a:srgbClr val="E4E1DC"/>
                      </a:solidFill>
                      <a:prstDash val="solid"/>
                      <a:round/>
                      <a:headEnd type="none" w="med" len="med"/>
                      <a:tailEnd type="none" w="med" len="med"/>
                    </a:lnB>
                    <a:solidFill>
                      <a:srgbClr val="FFFFFF"/>
                    </a:solidFill>
                  </a:tcPr>
                </a:tc>
              </a:tr>
            </a:tbl>
          </a:graphicData>
        </a:graphic>
      </p:graphicFrame>
      <p:sp>
        <p:nvSpPr>
          <p:cNvPr id="7" name="Text 4"/>
          <p:cNvSpPr/>
          <p:nvPr/>
        </p:nvSpPr>
        <p:spPr>
          <a:xfrm>
            <a:off x="841248" y="6400800"/>
            <a:ext cx="7315200" cy="274320"/>
          </a:xfrm>
          <a:prstGeom prst="rect">
            <a:avLst/>
          </a:prstGeom>
          <a:noFill/>
          <a:ln/>
        </p:spPr>
        <p:txBody>
          <a:bodyPr wrap="square" lIns="0" tIns="0" rIns="0" bIns="0" rtlCol="0" anchor="t"/>
          <a:lstStyle/>
          <a:p>
            <a:pPr indent="0" marL="0">
              <a:buNone/>
            </a:pPr>
            <a:r>
              <a:rPr lang="en-US" sz="900" dirty="0">
                <a:solidFill>
                  <a:srgbClr val="A8A8A8"/>
                </a:solidFill>
                <a:latin typeface="Yu Gothic" pitchFamily="34" charset="0"/>
                <a:ea typeface="Yu Gothic" pitchFamily="34" charset="-122"/>
                <a:cs typeface="Yu Gothic" pitchFamily="34" charset="-120"/>
              </a:rPr>
              <a:t>Incubation Team OKR ・ リーダー定例 2026-06-28</a:t>
            </a:r>
            <a:endParaRPr lang="en-US" sz="900" dirty="0"/>
          </a:p>
        </p:txBody>
      </p:sp>
      <p:sp>
        <p:nvSpPr>
          <p:cNvPr id="8" name="Text 5"/>
          <p:cNvSpPr/>
          <p:nvPr/>
        </p:nvSpPr>
        <p:spPr>
          <a:xfrm>
            <a:off x="10436047" y="6400800"/>
            <a:ext cx="914400" cy="274320"/>
          </a:xfrm>
          <a:prstGeom prst="rect">
            <a:avLst/>
          </a:prstGeom>
          <a:noFill/>
          <a:ln/>
        </p:spPr>
        <p:txBody>
          <a:bodyPr wrap="square" lIns="0" tIns="0" rIns="0" bIns="0" rtlCol="0" anchor="t"/>
          <a:lstStyle/>
          <a:p>
            <a:pPr algn="r" indent="0" marL="0">
              <a:buNone/>
            </a:pPr>
            <a:r>
              <a:rPr lang="en-US" sz="900" dirty="0">
                <a:solidFill>
                  <a:srgbClr val="A8A8A8"/>
                </a:solidFill>
                <a:latin typeface="Yu Gothic" pitchFamily="34" charset="0"/>
                <a:ea typeface="Yu Gothic" pitchFamily="34" charset="-122"/>
                <a:cs typeface="Yu Gothic" pitchFamily="34" charset="-120"/>
              </a:rPr>
              <a:t>14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Incubation OKR Q3/Q4</dc:title>
  <dc:subject>PptxGenJS Presentation</dc:subject>
  <dc:creator>Incubation Team</dc:creator>
  <cp:lastModifiedBy>Incubation Team</cp:lastModifiedBy>
  <cp:revision>1</cp:revision>
  <dcterms:created xsi:type="dcterms:W3CDTF">2026-06-29T00:27:48Z</dcterms:created>
  <dcterms:modified xsi:type="dcterms:W3CDTF">2026-06-29T00:27:48Z</dcterms:modified>
</cp:coreProperties>
</file>