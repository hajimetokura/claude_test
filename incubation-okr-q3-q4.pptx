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2331720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B8772E"/>
                </a:solidFill>
                <a:latin typeface="Yu Gothic"/>
                <a:ea typeface="Yu Gothic"/>
              </a:rPr>
              <a:t>INCUBATION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2788920"/>
            <a:ext cx="10509199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200" b="1">
                <a:solidFill>
                  <a:srgbClr val="222222"/>
                </a:solidFill>
                <a:latin typeface="Yu Gothic"/>
                <a:ea typeface="Yu Gothic"/>
              </a:rPr>
              <a:t>OKR レビュー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707070"/>
                </a:solidFill>
                <a:latin typeface="Yu Gothic"/>
                <a:ea typeface="Yu Gothic"/>
              </a:rPr>
              <a:t>Q3 振り返り ＆ Q4（7月〜）に向けて</a:t>
            </a:r>
          </a:p>
        </p:txBody>
      </p:sp>
      <p:sp>
        <p:nvSpPr>
          <p:cNvPr id="6" name="Rectangle 5"/>
          <p:cNvSpPr/>
          <p:nvPr/>
        </p:nvSpPr>
        <p:spPr>
          <a:xfrm>
            <a:off x="996696" y="4892040"/>
            <a:ext cx="1828800" cy="45720"/>
          </a:xfrm>
          <a:prstGeom prst="rect">
            <a:avLst/>
          </a:prstGeom>
          <a:solidFill>
            <a:srgbClr val="E4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5074920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07070"/>
                </a:solidFill>
                <a:latin typeface="Yu Gothic"/>
                <a:ea typeface="Yu Gothic"/>
              </a:rPr>
              <a:t>リーダー定例用サマリー　／　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6928"/>
            <a:ext cx="384048" cy="77724"/>
          </a:xfrm>
          <a:prstGeom prst="rect">
            <a:avLst/>
          </a:prstGeom>
          <a:solidFill>
            <a:srgbClr val="B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731520"/>
            <a:ext cx="1050919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772E"/>
                </a:solidFill>
                <a:latin typeface="Yu Gothic"/>
                <a:ea typeface="Yu Gothic"/>
              </a:rPr>
              <a:t>Q3 ｜ 振り返り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78992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22222"/>
                </a:solidFill>
                <a:latin typeface="Yu Gothic"/>
                <a:ea typeface="Yu Gothic"/>
              </a:rPr>
              <a:t>Objective：来期以降、民主化を推進する準備をする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331720"/>
            <a:ext cx="3259226" cy="3063240"/>
          </a:xfrm>
          <a:prstGeom prst="rect">
            <a:avLst/>
          </a:prstGeom>
          <a:solidFill>
            <a:srgbClr val="F7F2EA"/>
          </a:solidFill>
          <a:ln w="12700">
            <a:solidFill>
              <a:srgbClr val="E4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331720"/>
            <a:ext cx="3259226" cy="82296"/>
          </a:xfrm>
          <a:prstGeom prst="rect">
            <a:avLst/>
          </a:prstGeom>
          <a:solidFill>
            <a:srgbClr val="4E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24327"/>
            <a:ext cx="2747162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222222"/>
                </a:solidFill>
                <a:latin typeface="Yu Gothic"/>
                <a:ea typeface="Yu Gothic"/>
              </a:rPr>
              <a:t>KR1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350" b="0">
                <a:solidFill>
                  <a:srgbClr val="707070"/>
                </a:solidFill>
                <a:latin typeface="Yu Gothic"/>
                <a:ea typeface="Yu Gothic"/>
              </a:rPr>
              <a:t>パイプライン増</a:t>
            </a:r>
            <a:br/>
            <a:r>
              <a:rPr sz="1350" b="0">
                <a:solidFill>
                  <a:srgbClr val="707070"/>
                </a:solidFill>
                <a:latin typeface="Yu Gothic"/>
                <a:ea typeface="Yu Gothic"/>
              </a:rPr>
              <a:t>Cランク以上で 2.35億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A8A8A8"/>
                </a:solidFill>
                <a:latin typeface="Yu Gothic"/>
                <a:ea typeface="Yu Gothic"/>
              </a:rPr>
              <a:t>実績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22222"/>
                </a:solidFill>
                <a:latin typeface="Yu Gothic"/>
                <a:ea typeface="Yu Gothic"/>
              </a:rPr>
              <a:t>Cランク 3.4億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873752"/>
            <a:ext cx="2344826" cy="384048"/>
          </a:xfrm>
          <a:prstGeom prst="rect">
            <a:avLst/>
          </a:prstGeom>
          <a:solidFill>
            <a:srgbClr val="4E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910327"/>
            <a:ext cx="234482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</a:rPr>
              <a:t>145% 達成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66234" y="2331720"/>
            <a:ext cx="3259226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66234" y="2331720"/>
            <a:ext cx="3259226" cy="82296"/>
          </a:xfrm>
          <a:prstGeom prst="rect">
            <a:avLst/>
          </a:prstGeom>
          <a:solidFill>
            <a:srgbClr val="C4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2266" y="2624327"/>
            <a:ext cx="2747162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222222"/>
                </a:solidFill>
                <a:latin typeface="Yu Gothic"/>
                <a:ea typeface="Yu Gothic"/>
              </a:rPr>
              <a:t>KR2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350" b="0">
                <a:solidFill>
                  <a:srgbClr val="707070"/>
                </a:solidFill>
                <a:latin typeface="Yu Gothic"/>
                <a:ea typeface="Yu Gothic"/>
              </a:rPr>
              <a:t>AIによる</a:t>
            </a:r>
            <a:br/>
            <a:r>
              <a:rPr sz="1350" b="0">
                <a:solidFill>
                  <a:srgbClr val="707070"/>
                </a:solidFill>
                <a:latin typeface="Yu Gothic"/>
                <a:ea typeface="Yu Gothic"/>
              </a:rPr>
              <a:t>業務改善施策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A8A8A8"/>
                </a:solidFill>
                <a:latin typeface="Yu Gothic"/>
                <a:ea typeface="Yu Gothic"/>
              </a:rPr>
              <a:t>実績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22222"/>
                </a:solidFill>
                <a:latin typeface="Yu Gothic"/>
                <a:ea typeface="Yu Gothic"/>
              </a:rPr>
              <a:t>OS 50% / BIZ 20%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22266" y="4873752"/>
            <a:ext cx="2344826" cy="384048"/>
          </a:xfrm>
          <a:prstGeom prst="rect">
            <a:avLst/>
          </a:prstGeom>
          <a:solidFill>
            <a:srgbClr val="C4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2266" y="4910327"/>
            <a:ext cx="234482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</a:rPr>
              <a:t>進行中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1220" y="2331720"/>
            <a:ext cx="3259226" cy="3063240"/>
          </a:xfrm>
          <a:prstGeom prst="rect">
            <a:avLst/>
          </a:prstGeom>
          <a:solidFill>
            <a:srgbClr val="F7F2EA"/>
          </a:solidFill>
          <a:ln w="12700">
            <a:solidFill>
              <a:srgbClr val="E4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1220" y="2331720"/>
            <a:ext cx="3259226" cy="82296"/>
          </a:xfrm>
          <a:prstGeom prst="rect">
            <a:avLst/>
          </a:prstGeom>
          <a:solidFill>
            <a:srgbClr val="4E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7252" y="2624327"/>
            <a:ext cx="2747162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222222"/>
                </a:solidFill>
                <a:latin typeface="Yu Gothic"/>
                <a:ea typeface="Yu Gothic"/>
              </a:rPr>
              <a:t>KR3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350" b="0">
                <a:solidFill>
                  <a:srgbClr val="707070"/>
                </a:solidFill>
                <a:latin typeface="Yu Gothic"/>
                <a:ea typeface="Yu Gothic"/>
              </a:rPr>
              <a:t>事業戦略策定 ＆</a:t>
            </a:r>
            <a:br/>
            <a:r>
              <a:rPr sz="1350" b="0">
                <a:solidFill>
                  <a:srgbClr val="707070"/>
                </a:solidFill>
                <a:latin typeface="Yu Gothic"/>
                <a:ea typeface="Yu Gothic"/>
              </a:rPr>
              <a:t>民主化インパクト指標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A8A8A8"/>
                </a:solidFill>
                <a:latin typeface="Yu Gothic"/>
                <a:ea typeface="Yu Gothic"/>
              </a:rPr>
              <a:t>実績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22222"/>
                </a:solidFill>
                <a:latin typeface="Yu Gothic"/>
                <a:ea typeface="Yu Gothic"/>
              </a:rPr>
              <a:t>事業戦略策定 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47252" y="4873752"/>
            <a:ext cx="2344826" cy="384048"/>
          </a:xfrm>
          <a:prstGeom prst="rect">
            <a:avLst/>
          </a:prstGeom>
          <a:solidFill>
            <a:srgbClr val="4E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7252" y="4910327"/>
            <a:ext cx="234482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</a:rPr>
              <a:t>達成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6400800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A8A8"/>
                </a:solidFill>
                <a:latin typeface="Yu Gothic"/>
                <a:ea typeface="Yu Gothic"/>
              </a:rPr>
              <a:t>Incubation Team OKR ・ リーダー定例 2026-06-28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3604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A8A8"/>
                </a:solidFill>
                <a:latin typeface="Yu Gothic"/>
                <a:ea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6928"/>
            <a:ext cx="384048" cy="77724"/>
          </a:xfrm>
          <a:prstGeom prst="rect">
            <a:avLst/>
          </a:prstGeom>
          <a:solidFill>
            <a:srgbClr val="B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731520"/>
            <a:ext cx="1050919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772E"/>
                </a:solidFill>
                <a:latin typeface="Yu Gothic"/>
                <a:ea typeface="Yu Gothic"/>
              </a:rPr>
              <a:t>Q3 ｜ KR1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78992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Yu Gothic"/>
                <a:ea typeface="Yu Gothic"/>
              </a:rPr>
              <a:t>パイプライン増　145% 達成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240280"/>
            <a:ext cx="4023360" cy="3017520"/>
          </a:xfrm>
          <a:prstGeom prst="rect">
            <a:avLst/>
          </a:prstGeom>
          <a:solidFill>
            <a:srgbClr val="F7F2EA"/>
          </a:solidFill>
          <a:ln w="12700">
            <a:solidFill>
              <a:srgbClr val="E4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697480"/>
            <a:ext cx="32918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707070"/>
                </a:solidFill>
                <a:latin typeface="Yu Gothic"/>
                <a:ea typeface="Yu Gothic"/>
              </a:rPr>
              <a:t>目標 Cランク以上 2.35億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B8772E"/>
                </a:solidFill>
                <a:latin typeface="Yu Gothic"/>
                <a:ea typeface="Yu Gothic"/>
              </a:rPr>
              <a:t>3.4億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Yu Gothic"/>
                <a:ea typeface="Yu Gothic"/>
              </a:rPr>
              <a:t>Cランク実績　＝　145% 達成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13248" y="2423160"/>
            <a:ext cx="5937199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B8772E"/>
                </a:solidFill>
                <a:latin typeface="Yu Gothic"/>
                <a:ea typeface="Yu Gothic"/>
              </a:rPr>
              <a:t>レビュー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・ 目標 2.35億 を大きく上回り達成。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・ 補助金案件が新たに入ってきたことが寄与。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400800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A8A8"/>
                </a:solidFill>
                <a:latin typeface="Yu Gothic"/>
                <a:ea typeface="Yu Gothic"/>
              </a:rPr>
              <a:t>Incubation Team OKR ・ リーダー定例 2026-06-28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04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A8A8"/>
                </a:solidFill>
                <a:latin typeface="Yu Gothic"/>
                <a:ea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6928"/>
            <a:ext cx="384048" cy="77724"/>
          </a:xfrm>
          <a:prstGeom prst="rect">
            <a:avLst/>
          </a:prstGeom>
          <a:solidFill>
            <a:srgbClr val="B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731520"/>
            <a:ext cx="1050919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772E"/>
                </a:solidFill>
                <a:latin typeface="Yu Gothic"/>
                <a:ea typeface="Yu Gothic"/>
              </a:rPr>
              <a:t>Q3 ｜ KR2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78992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222222"/>
                </a:solidFill>
                <a:latin typeface="Yu Gothic"/>
                <a:ea typeface="Yu Gothic"/>
              </a:rPr>
              <a:t>AIによる業務改善施策　＜進行中＞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286000"/>
            <a:ext cx="5025999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286000"/>
            <a:ext cx="73152" cy="3108960"/>
          </a:xfrm>
          <a:prstGeom prst="rect">
            <a:avLst/>
          </a:prstGeom>
          <a:solidFill>
            <a:srgbClr val="C4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2144" y="2542032"/>
            <a:ext cx="4477359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2222"/>
                </a:solidFill>
                <a:latin typeface="Yu Gothic"/>
                <a:ea typeface="Yu Gothic"/>
              </a:rPr>
              <a:t>OS　</a:t>
            </a:r>
            <a:r>
              <a:rPr sz="1700" b="1">
                <a:solidFill>
                  <a:srgbClr val="C4962E"/>
                </a:solidFill>
                <a:latin typeface="Yu Gothic"/>
              </a:rPr>
              <a:t>50%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22222"/>
                </a:solidFill>
                <a:latin typeface="Yu Gothic"/>
                <a:ea typeface="Yu Gothic"/>
              </a:rPr>
              <a:t>・ サポートのボットを作成、運用中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B8772E"/>
                </a:solidFill>
                <a:latin typeface="Yu Gothic"/>
                <a:ea typeface="Yu Gothic"/>
              </a:rPr>
              <a:t>△ 課題：情報の精度が悪い → 改善したい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4447" y="2286000"/>
            <a:ext cx="5025999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24447" y="2286000"/>
            <a:ext cx="73152" cy="3108960"/>
          </a:xfrm>
          <a:prstGeom prst="rect">
            <a:avLst/>
          </a:prstGeom>
          <a:solidFill>
            <a:srgbClr val="C4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35343" y="2542032"/>
            <a:ext cx="4477359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2222"/>
                </a:solidFill>
                <a:latin typeface="Yu Gothic"/>
                <a:ea typeface="Yu Gothic"/>
              </a:rPr>
              <a:t>BIZ　</a:t>
            </a:r>
            <a:r>
              <a:rPr sz="1700" b="1">
                <a:solidFill>
                  <a:srgbClr val="C4962E"/>
                </a:solidFill>
                <a:latin typeface="Yu Gothic"/>
              </a:rPr>
              <a:t>20%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22222"/>
                </a:solidFill>
                <a:latin typeface="Yu Gothic"/>
                <a:ea typeface="Yu Gothic"/>
              </a:rPr>
              <a:t>・ Claudeで事例収集→リテンションを試行中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22222"/>
                </a:solidFill>
                <a:latin typeface="Yu Gothic"/>
                <a:ea typeface="Yu Gothic"/>
              </a:rPr>
              <a:t>・ VUILD事例は豊富だが、リアルなオーナー事例が必要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B8772E"/>
                </a:solidFill>
                <a:latin typeface="Yu Gothic"/>
                <a:ea typeface="Yu Gothic"/>
              </a:rPr>
              <a:t>△ 課題：事例集め（行脚・SNS）と保存場所・フォーマット・ルール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22222"/>
                </a:solidFill>
                <a:latin typeface="Yu Gothic"/>
                <a:ea typeface="Yu Gothic"/>
              </a:rPr>
              <a:t>・ オーナー事例はClaudeで集めにくい（最初の雛形集めは戸倉）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6400800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A8A8"/>
                </a:solidFill>
                <a:latin typeface="Yu Gothic"/>
                <a:ea typeface="Yu Gothic"/>
              </a:rPr>
              <a:t>Incubation Team OKR ・ リーダー定例 2026-06-28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604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A8A8"/>
                </a:solidFill>
                <a:latin typeface="Yu Gothic"/>
                <a:ea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6928"/>
            <a:ext cx="384048" cy="77724"/>
          </a:xfrm>
          <a:prstGeom prst="rect">
            <a:avLst/>
          </a:prstGeom>
          <a:solidFill>
            <a:srgbClr val="B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731520"/>
            <a:ext cx="1050919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772E"/>
                </a:solidFill>
                <a:latin typeface="Yu Gothic"/>
                <a:ea typeface="Yu Gothic"/>
              </a:rPr>
              <a:t>Q3 ｜ KR3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78992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222222"/>
                </a:solidFill>
                <a:latin typeface="Yu Gothic"/>
                <a:ea typeface="Yu Gothic"/>
              </a:rPr>
              <a:t>事業戦略策定 ＆ 民主化インパクト指標　＜達成＞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468880"/>
            <a:ext cx="10509199" cy="2468880"/>
          </a:xfrm>
          <a:prstGeom prst="rect">
            <a:avLst/>
          </a:prstGeom>
          <a:solidFill>
            <a:srgbClr val="F7F2EA"/>
          </a:solidFill>
          <a:ln w="12700">
            <a:solidFill>
              <a:srgbClr val="E4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2788920"/>
            <a:ext cx="959479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22222"/>
                </a:solidFill>
                <a:latin typeface="Yu Gothic"/>
                <a:ea typeface="Yu Gothic"/>
              </a:rPr>
              <a:t>事業戦略策定済み　</a:t>
            </a:r>
            <a:r>
              <a:rPr sz="4000" b="1">
                <a:solidFill>
                  <a:srgbClr val="B8772E"/>
                </a:solidFill>
                <a:latin typeface="Yu Gothic"/>
              </a:rPr>
              <a:t>100%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07070"/>
                </a:solidFill>
                <a:latin typeface="Yu Gothic"/>
                <a:ea typeface="Yu Gothic"/>
              </a:rPr>
              <a:t>全社でインパクト指標が出てきた。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400800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A8A8"/>
                </a:solidFill>
                <a:latin typeface="Yu Gothic"/>
                <a:ea typeface="Yu Gothic"/>
              </a:rPr>
              <a:t>Incubation Team OKR ・ リーダー定例 2026-06-28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A8A8"/>
                </a:solidFill>
                <a:latin typeface="Yu Gothic"/>
                <a:ea typeface="Yu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6928"/>
            <a:ext cx="384048" cy="77724"/>
          </a:xfrm>
          <a:prstGeom prst="rect">
            <a:avLst/>
          </a:prstGeom>
          <a:solidFill>
            <a:srgbClr val="B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731520"/>
            <a:ext cx="1050919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772E"/>
                </a:solidFill>
                <a:latin typeface="Yu Gothic"/>
                <a:ea typeface="Yu Gothic"/>
              </a:rPr>
              <a:t>Q4（7月〜）｜ 全社の方向性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78992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22222"/>
                </a:solidFill>
                <a:latin typeface="Yu Gothic"/>
                <a:ea typeface="Yu Gothic"/>
              </a:rPr>
              <a:t>基盤を整える（成長を目指しつつ、守備力を強化）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331720"/>
            <a:ext cx="3259226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560320"/>
            <a:ext cx="271058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B8772E"/>
                </a:solidFill>
                <a:latin typeface="Yu Gothic"/>
                <a:ea typeface="Yu Gothic"/>
              </a:rPr>
              <a:t>KR1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人事制度の整備</a:t>
            </a:r>
          </a:p>
        </p:txBody>
      </p:sp>
      <p:sp>
        <p:nvSpPr>
          <p:cNvPr id="8" name="Rectangle 7"/>
          <p:cNvSpPr/>
          <p:nvPr/>
        </p:nvSpPr>
        <p:spPr>
          <a:xfrm>
            <a:off x="4466234" y="2331720"/>
            <a:ext cx="3259226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40554" y="2560320"/>
            <a:ext cx="271058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B8772E"/>
                </a:solidFill>
                <a:latin typeface="Yu Gothic"/>
                <a:ea typeface="Yu Gothic"/>
              </a:rPr>
              <a:t>KR2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採用の強化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1220" y="2331720"/>
            <a:ext cx="3259226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5540" y="2560320"/>
            <a:ext cx="271058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B8772E"/>
                </a:solidFill>
                <a:latin typeface="Yu Gothic"/>
                <a:ea typeface="Yu Gothic"/>
              </a:rPr>
              <a:t>KR3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業務の効率化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343400"/>
            <a:ext cx="10509199" cy="1051560"/>
          </a:xfrm>
          <a:prstGeom prst="rect">
            <a:avLst/>
          </a:prstGeom>
          <a:solidFill>
            <a:srgbClr val="F7F2EA"/>
          </a:solidFill>
          <a:ln w="12700">
            <a:solidFill>
              <a:srgbClr val="E4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572000"/>
            <a:ext cx="99605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8772E"/>
                </a:solidFill>
                <a:latin typeface="Yu Gothic"/>
                <a:ea typeface="Yu Gothic"/>
              </a:rPr>
              <a:t>営業　</a:t>
            </a:r>
            <a:r>
              <a:rPr sz="1700" b="1">
                <a:solidFill>
                  <a:srgbClr val="222222"/>
                </a:solidFill>
                <a:latin typeface="Yu Gothic"/>
              </a:rPr>
              <a:t>ユーザーのリテンション施策を打つ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6400800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A8A8"/>
                </a:solidFill>
                <a:latin typeface="Yu Gothic"/>
                <a:ea typeface="Yu Gothic"/>
              </a:rPr>
              <a:t>Incubation Team OKR ・ リーダー定例 2026-06-28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604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A8A8"/>
                </a:solidFill>
                <a:latin typeface="Yu Gothic"/>
                <a:ea typeface="Yu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6928"/>
            <a:ext cx="384048" cy="77724"/>
          </a:xfrm>
          <a:prstGeom prst="rect">
            <a:avLst/>
          </a:prstGeom>
          <a:solidFill>
            <a:srgbClr val="B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731520"/>
            <a:ext cx="1050919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772E"/>
                </a:solidFill>
                <a:latin typeface="Yu Gothic"/>
                <a:ea typeface="Yu Gothic"/>
              </a:rPr>
              <a:t>Q4（7月〜）｜ Platform OKR 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78992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222222"/>
                </a:solidFill>
                <a:latin typeface="Yu Gothic"/>
                <a:ea typeface="Yu Gothic"/>
              </a:rPr>
              <a:t>Objective：来期に民主化を推進するための下準備・仕掛けづくり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240280"/>
            <a:ext cx="10509199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240280"/>
            <a:ext cx="73152" cy="1051560"/>
          </a:xfrm>
          <a:prstGeom prst="rect">
            <a:avLst/>
          </a:prstGeom>
          <a:solidFill>
            <a:srgbClr val="B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2144" y="2395728"/>
            <a:ext cx="996055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KR1　来期ヨミ C → B へのアップ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07070"/>
                </a:solidFill>
                <a:latin typeface="Yu Gothic"/>
                <a:ea typeface="Yu Gothic"/>
              </a:rPr>
              <a:t>指標：Shopbot 導入台数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456432"/>
            <a:ext cx="10509199" cy="2331720"/>
          </a:xfrm>
          <a:prstGeom prst="rect">
            <a:avLst/>
          </a:prstGeom>
          <a:solidFill>
            <a:srgbClr val="F7F2EA"/>
          </a:solidFill>
          <a:ln w="12700">
            <a:solidFill>
              <a:srgbClr val="E4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3456432"/>
            <a:ext cx="73152" cy="2331720"/>
          </a:xfrm>
          <a:prstGeom prst="rect">
            <a:avLst/>
          </a:prstGeom>
          <a:solidFill>
            <a:srgbClr val="B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" y="3611880"/>
            <a:ext cx="9960559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222222"/>
                </a:solidFill>
                <a:latin typeface="Yu Gothic"/>
                <a:ea typeface="Yu Gothic"/>
              </a:rPr>
              <a:t>KR2　ポータルサイト「ShopBot＋」をリリース（導入300台に合わせて）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707070"/>
                </a:solidFill>
                <a:latin typeface="Yu Gothic"/>
                <a:ea typeface="Yu Gothic"/>
              </a:rPr>
              <a:t>指標：地域クリエイター拠点数 ／ ものづくりに触れた人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 地域クリエイター拠点を ＿＿ 拠点（目標数・定義を決めていく）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 ★ 地域クリエイターを育てる・フィールドになる拠点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 A（挑戦）：大学生向けテストプログラム（木匠塾企画）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6400800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A8A8"/>
                </a:solidFill>
                <a:latin typeface="Yu Gothic"/>
                <a:ea typeface="Yu Gothic"/>
              </a:rPr>
              <a:t>Incubation Team OKR ・ リーダー定例 2026-06-28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604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A8A8"/>
                </a:solidFill>
                <a:latin typeface="Yu Gothic"/>
                <a:ea typeface="Yu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6928"/>
            <a:ext cx="384048" cy="77724"/>
          </a:xfrm>
          <a:prstGeom prst="rect">
            <a:avLst/>
          </a:prstGeom>
          <a:solidFill>
            <a:srgbClr val="B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731520"/>
            <a:ext cx="1050919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772E"/>
                </a:solidFill>
                <a:latin typeface="Yu Gothic"/>
                <a:ea typeface="Yu Gothic"/>
              </a:rPr>
              <a:t>Q4 ｜ ShopBot＋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78992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Yu Gothic"/>
                <a:ea typeface="Yu Gothic"/>
              </a:rPr>
              <a:t>「ShopBot＋」で提供するもの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1050919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07070"/>
                </a:solidFill>
                <a:latin typeface="Yu Gothic"/>
                <a:ea typeface="Yu Gothic"/>
              </a:rPr>
              <a:t>ツールは、これらを実現するための「手段」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331720"/>
            <a:ext cx="10509199" cy="4572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432303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</a:rPr>
              <a:t>提供物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64608" y="2432303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</a:rPr>
              <a:t>担当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5088" y="2432303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Yu Gothic"/>
                <a:ea typeface="Yu Gothic"/>
              </a:rPr>
              <a:t>状態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2788920"/>
            <a:ext cx="1050919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2953512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222"/>
                </a:solidFill>
                <a:latin typeface="Yu Gothic"/>
                <a:ea typeface="Yu Gothic"/>
              </a:rPr>
              <a:t>教育プログラム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608" y="29718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707070"/>
                </a:solidFill>
                <a:latin typeface="Yu Gothic"/>
                <a:ea typeface="Yu Gothic"/>
              </a:rPr>
              <a:t>みき・ふく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5088" y="2971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Rectangle 14"/>
          <p:cNvSpPr/>
          <p:nvPr/>
        </p:nvSpPr>
        <p:spPr>
          <a:xfrm>
            <a:off x="841248" y="3447287"/>
            <a:ext cx="10509199" cy="658368"/>
          </a:xfrm>
          <a:prstGeom prst="rect">
            <a:avLst/>
          </a:prstGeom>
          <a:solidFill>
            <a:srgbClr val="F7F2EA"/>
          </a:solidFill>
          <a:ln w="6350">
            <a:solidFill>
              <a:srgbClr val="E4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3611879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222"/>
                </a:solidFill>
                <a:latin typeface="Yu Gothic"/>
                <a:ea typeface="Yu Gothic"/>
              </a:rPr>
              <a:t>人（人材育成）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3630168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707070"/>
                </a:solidFill>
                <a:latin typeface="Yu Gothic"/>
                <a:ea typeface="Yu Gothic"/>
              </a:rPr>
              <a:t>戸倉・もえさん・あおやなぎ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363016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Rectangle 18"/>
          <p:cNvSpPr/>
          <p:nvPr/>
        </p:nvSpPr>
        <p:spPr>
          <a:xfrm>
            <a:off x="841248" y="4105656"/>
            <a:ext cx="1050919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427024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222"/>
                </a:solidFill>
                <a:latin typeface="Yu Gothic"/>
                <a:ea typeface="Yu Gothic"/>
              </a:rPr>
              <a:t>EMARF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8" y="4288536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707070"/>
                </a:solidFill>
                <a:latin typeface="Yu Gothic"/>
                <a:ea typeface="Yu Gothic"/>
              </a:rPr>
              <a:t>戸倉・COCO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428853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772E"/>
                </a:solidFill>
                <a:latin typeface="Yu Gothic"/>
                <a:ea typeface="Yu Gothic"/>
              </a:rPr>
              <a:t>★ 要検討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" y="4764024"/>
            <a:ext cx="10509199" cy="658368"/>
          </a:xfrm>
          <a:prstGeom prst="rect">
            <a:avLst/>
          </a:prstGeom>
          <a:solidFill>
            <a:srgbClr val="F7F2EA"/>
          </a:solidFill>
          <a:ln w="6350">
            <a:solidFill>
              <a:srgbClr val="E4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4928616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222"/>
                </a:solidFill>
                <a:latin typeface="Yu Gothic"/>
                <a:ea typeface="Yu Gothic"/>
              </a:rPr>
              <a:t>製材機・乾燥機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4608" y="4946904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707070"/>
                </a:solidFill>
                <a:latin typeface="Yu Gothic"/>
                <a:ea typeface="Yu Gothic"/>
              </a:rPr>
              <a:t>井上・すずこう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8" y="4946904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772E"/>
                </a:solidFill>
                <a:latin typeface="Yu Gothic"/>
                <a:ea typeface="Yu Gothic"/>
              </a:rPr>
              <a:t>準備中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5422392"/>
            <a:ext cx="1050919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5586983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222"/>
                </a:solidFill>
                <a:latin typeface="Yu Gothic"/>
                <a:ea typeface="Yu Gothic"/>
              </a:rPr>
              <a:t>テンプレ（NESTING的）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64608" y="5605272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707070"/>
                </a:solidFill>
                <a:latin typeface="Yu Gothic"/>
                <a:ea typeface="Yu Gothic"/>
              </a:rPr>
              <a:t>戸倉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05088" y="560527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772E"/>
                </a:solidFill>
                <a:latin typeface="Yu Gothic"/>
                <a:ea typeface="Yu Gothic"/>
              </a:rPr>
              <a:t>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6400800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A8A8"/>
                </a:solidFill>
                <a:latin typeface="Yu Gothic"/>
                <a:ea typeface="Yu Gothic"/>
              </a:rPr>
              <a:t>Incubation Team OKR ・ リーダー定例 2026-06-28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3604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A8A8"/>
                </a:solidFill>
                <a:latin typeface="Yu Gothic"/>
                <a:ea typeface="Yu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6928"/>
            <a:ext cx="384048" cy="77724"/>
          </a:xfrm>
          <a:prstGeom prst="rect">
            <a:avLst/>
          </a:prstGeom>
          <a:solidFill>
            <a:srgbClr val="B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731520"/>
            <a:ext cx="1050919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772E"/>
                </a:solidFill>
                <a:latin typeface="Yu Gothic"/>
                <a:ea typeface="Yu Gothic"/>
              </a:rPr>
              <a:t>Q4 ｜ 論点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78992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Yu Gothic"/>
                <a:ea typeface="Yu Gothic"/>
              </a:rPr>
              <a:t>地域クリエイター拠点の「定義」（検討中）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240280"/>
            <a:ext cx="5120640" cy="3200400"/>
          </a:xfrm>
          <a:prstGeom prst="rect">
            <a:avLst/>
          </a:prstGeom>
          <a:solidFill>
            <a:srgbClr val="F7F2EA"/>
          </a:solidFill>
          <a:ln w="12700">
            <a:solidFill>
              <a:srgbClr val="E4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487168"/>
            <a:ext cx="45720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B8772E"/>
                </a:solidFill>
                <a:latin typeface="Yu Gothic"/>
                <a:ea typeface="Yu Gothic"/>
              </a:rPr>
              <a:t>定義の核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Yu Gothic"/>
                <a:ea typeface="Yu Gothic"/>
              </a:rPr>
              <a:t>★ シェア工房である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Yu Gothic"/>
                <a:ea typeface="Yu Gothic"/>
              </a:rPr>
              <a:t>★ エコシステムがある（メンバーコミュニティ）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Yu Gothic"/>
                <a:ea typeface="Yu Gothic"/>
              </a:rPr>
              <a:t>★ TO C・地域住民へWS提供／ものづくりに触れる機会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2286000"/>
            <a:ext cx="5022799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B8772E"/>
                </a:solidFill>
                <a:latin typeface="Yu Gothic"/>
                <a:ea typeface="Yu Gothic"/>
              </a:rPr>
              <a:t>スタンス・論点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 工房をオープンにしている（WS実施）とわかりやすい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 地域を面白くする・インキュベートする人がいる状態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 半クローズの拠点もある → ジャンル分けが必要？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 拠点側のメリットは？（要検討）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32120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8A8A8"/>
                </a:solidFill>
                <a:latin typeface="Yu Gothic"/>
                <a:ea typeface="Yu Gothic"/>
              </a:rPr>
              <a:t>候補：松川Pukto／FabLab南小国／花巻／久米製材／Andforest／森町／上松／新庄村／DIYSTUDIO／太宰府／カインズ／小菅村／iti-setouchi　ほか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6400800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A8A8"/>
                </a:solidFill>
                <a:latin typeface="Yu Gothic"/>
                <a:ea typeface="Yu Gothic"/>
              </a:rPr>
              <a:t>Incubation Team OKR ・ リーダー定例 2026-06-28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3604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A8A8"/>
                </a:solidFill>
                <a:latin typeface="Yu Gothic"/>
                <a:ea typeface="Yu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6928"/>
            <a:ext cx="384048" cy="77724"/>
          </a:xfrm>
          <a:prstGeom prst="rect">
            <a:avLst/>
          </a:prstGeom>
          <a:solidFill>
            <a:srgbClr val="B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731520"/>
            <a:ext cx="1050919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772E"/>
                </a:solidFill>
                <a:latin typeface="Yu Gothic"/>
                <a:ea typeface="Yu Gothic"/>
              </a:rPr>
              <a:t>まとめ ｜ ネクストアクション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78992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Yu Gothic"/>
                <a:ea typeface="Yu Gothic"/>
              </a:rPr>
              <a:t>次に決める・動かすこと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194560"/>
            <a:ext cx="10509199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395728"/>
            <a:ext cx="237744" cy="237744"/>
          </a:xfrm>
          <a:prstGeom prst="rect">
            <a:avLst/>
          </a:prstGeom>
          <a:noFill/>
          <a:ln w="19050">
            <a:solidFill>
              <a:srgbClr val="B87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31343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8772E"/>
                </a:solidFill>
                <a:latin typeface="Yu Gothic"/>
                <a:ea typeface="Yu Gothic"/>
              </a:rPr>
              <a:t>KR2 / 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0208" y="2295144"/>
            <a:ext cx="712591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2222"/>
                </a:solidFill>
                <a:latin typeface="Yu Gothic"/>
                <a:ea typeface="Yu Gothic"/>
              </a:rPr>
              <a:t>サポートボットの情報精度を改善する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2944368"/>
            <a:ext cx="10509199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3145536"/>
            <a:ext cx="237744" cy="237744"/>
          </a:xfrm>
          <a:prstGeom prst="rect">
            <a:avLst/>
          </a:prstGeom>
          <a:noFill/>
          <a:ln w="19050">
            <a:solidFill>
              <a:srgbClr val="B87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3063239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8772E"/>
                </a:solidFill>
                <a:latin typeface="Yu Gothic"/>
                <a:ea typeface="Yu Gothic"/>
              </a:rPr>
              <a:t>KR2 / BIZ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208" y="3044951"/>
            <a:ext cx="712591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2222"/>
                </a:solidFill>
                <a:latin typeface="Yu Gothic"/>
                <a:ea typeface="Yu Gothic"/>
              </a:rPr>
              <a:t>オーナー事例の集め方と、保存場所・フォーマット・ルールを確定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3694176"/>
            <a:ext cx="10509199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3895344"/>
            <a:ext cx="237744" cy="237744"/>
          </a:xfrm>
          <a:prstGeom prst="rect">
            <a:avLst/>
          </a:prstGeom>
          <a:noFill/>
          <a:ln w="19050">
            <a:solidFill>
              <a:srgbClr val="B87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81304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8772E"/>
                </a:solidFill>
                <a:latin typeface="Yu Gothic"/>
                <a:ea typeface="Yu Gothic"/>
              </a:rPr>
              <a:t>Platform / KR2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0208" y="3794760"/>
            <a:ext cx="712591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2222"/>
                </a:solidFill>
                <a:latin typeface="Yu Gothic"/>
                <a:ea typeface="Yu Gothic"/>
              </a:rPr>
              <a:t>地域クリエイター拠点の「定義」と「目標拠点数」を確定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4443983"/>
            <a:ext cx="10509199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4645151"/>
            <a:ext cx="237744" cy="237744"/>
          </a:xfrm>
          <a:prstGeom prst="rect">
            <a:avLst/>
          </a:prstGeom>
          <a:noFill/>
          <a:ln w="19050">
            <a:solidFill>
              <a:srgbClr val="B87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562855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8772E"/>
                </a:solidFill>
                <a:latin typeface="Yu Gothic"/>
                <a:ea typeface="Yu Gothic"/>
              </a:rPr>
              <a:t>Platform /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0208" y="4544568"/>
            <a:ext cx="712591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2222"/>
                </a:solidFill>
                <a:latin typeface="Yu Gothic"/>
                <a:ea typeface="Yu Gothic"/>
              </a:rPr>
              <a:t>SB4・自動化のロードマップを別途相談（戸倉・中澤）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5193792"/>
            <a:ext cx="10509199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97280" y="5394959"/>
            <a:ext cx="237744" cy="237744"/>
          </a:xfrm>
          <a:prstGeom prst="rect">
            <a:avLst/>
          </a:prstGeom>
          <a:noFill/>
          <a:ln w="19050">
            <a:solidFill>
              <a:srgbClr val="B87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4480" y="531266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8772E"/>
                </a:solidFill>
                <a:latin typeface="Yu Gothic"/>
                <a:ea typeface="Yu Gothic"/>
              </a:rPr>
              <a:t>ShopBot＋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0208" y="5294376"/>
            <a:ext cx="712591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2222"/>
                </a:solidFill>
                <a:latin typeface="Yu Gothic"/>
                <a:ea typeface="Yu Gothic"/>
              </a:rPr>
              <a:t>EMARF まわりの方針を検討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6400800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A8A8"/>
                </a:solidFill>
                <a:latin typeface="Yu Gothic"/>
                <a:ea typeface="Yu Gothic"/>
              </a:rPr>
              <a:t>Incubation Team OKR ・ リーダー定例 2026-06-28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3604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A8A8"/>
                </a:solidFill>
                <a:latin typeface="Yu Gothic"/>
                <a:ea typeface="Yu Gothic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