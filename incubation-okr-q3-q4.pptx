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978408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78408" y="278892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OKR レビュー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78408" y="3886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 振り返り ＆ Q4（7月〜）に向けて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6696" y="4892040"/>
            <a:ext cx="1828800" cy="45720"/>
          </a:xfrm>
          <a:prstGeom prst="rect">
            <a:avLst/>
          </a:prstGeom>
          <a:solidFill>
            <a:srgbClr val="E4E1DC"/>
          </a:solidFill>
          <a:ln/>
        </p:spPr>
      </p:sp>
      <p:sp>
        <p:nvSpPr>
          <p:cNvPr id="7" name="Text 5"/>
          <p:cNvSpPr/>
          <p:nvPr/>
        </p:nvSpPr>
        <p:spPr>
          <a:xfrm>
            <a:off x="978408" y="5074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リーダー定例用サマリー　／　2026-06-28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566928"/>
            <a:ext cx="384048" cy="77724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73152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 ｜ 振り返り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Objective：来期以降、民主化を推進する準備をする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41248" y="2331720"/>
            <a:ext cx="3259226" cy="3063240"/>
          </a:xfrm>
          <a:prstGeom prst="rect">
            <a:avLst/>
          </a:prstGeom>
          <a:solidFill>
            <a:srgbClr val="F7F2EA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331720"/>
            <a:ext cx="3259226" cy="82296"/>
          </a:xfrm>
          <a:prstGeom prst="rect">
            <a:avLst/>
          </a:prstGeom>
          <a:solidFill>
            <a:srgbClr val="4E8A5C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624328"/>
            <a:ext cx="274716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KR1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パイプライン増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Cランク以上で 2.35億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Cランク 3.4億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4873752"/>
            <a:ext cx="2747162" cy="384048"/>
          </a:xfrm>
          <a:prstGeom prst="rect">
            <a:avLst/>
          </a:prstGeom>
          <a:solidFill>
            <a:srgbClr val="4E8A5C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4873752"/>
            <a:ext cx="27471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145% 達成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66234" y="2331720"/>
            <a:ext cx="3259226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66234" y="2331720"/>
            <a:ext cx="3259226" cy="82296"/>
          </a:xfrm>
          <a:prstGeom prst="rect">
            <a:avLst/>
          </a:prstGeom>
          <a:solidFill>
            <a:srgbClr val="C4962E"/>
          </a:solidFill>
          <a:ln/>
        </p:spPr>
      </p:sp>
      <p:sp>
        <p:nvSpPr>
          <p:cNvPr id="12" name="Text 10"/>
          <p:cNvSpPr/>
          <p:nvPr/>
        </p:nvSpPr>
        <p:spPr>
          <a:xfrm>
            <a:off x="4722266" y="2624328"/>
            <a:ext cx="274716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KR2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AIによる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業務改善施策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50% / BIZ 20%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722266" y="4873752"/>
            <a:ext cx="2747162" cy="384048"/>
          </a:xfrm>
          <a:prstGeom prst="rect">
            <a:avLst/>
          </a:prstGeom>
          <a:solidFill>
            <a:srgbClr val="C4962E"/>
          </a:solidFill>
          <a:ln/>
        </p:spPr>
      </p:sp>
      <p:sp>
        <p:nvSpPr>
          <p:cNvPr id="14" name="Text 12"/>
          <p:cNvSpPr/>
          <p:nvPr/>
        </p:nvSpPr>
        <p:spPr>
          <a:xfrm>
            <a:off x="4722266" y="4873752"/>
            <a:ext cx="27471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進行中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1221" y="2331720"/>
            <a:ext cx="3259226" cy="3063240"/>
          </a:xfrm>
          <a:prstGeom prst="rect">
            <a:avLst/>
          </a:prstGeom>
          <a:solidFill>
            <a:srgbClr val="F7F2EA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1221" y="2331720"/>
            <a:ext cx="3259226" cy="82296"/>
          </a:xfrm>
          <a:prstGeom prst="rect">
            <a:avLst/>
          </a:prstGeom>
          <a:solidFill>
            <a:srgbClr val="4E8A5C"/>
          </a:solidFill>
          <a:ln/>
        </p:spPr>
      </p:sp>
      <p:sp>
        <p:nvSpPr>
          <p:cNvPr id="17" name="Text 15"/>
          <p:cNvSpPr/>
          <p:nvPr/>
        </p:nvSpPr>
        <p:spPr>
          <a:xfrm>
            <a:off x="8347253" y="2624328"/>
            <a:ext cx="274716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KR3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事業戦略策定 ＆</a:t>
            </a:r>
            <a:endParaRPr lang="en-US" sz="22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35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民主化インパクト指標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事業戦略策定 100%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347253" y="4873752"/>
            <a:ext cx="2747162" cy="384048"/>
          </a:xfrm>
          <a:prstGeom prst="rect">
            <a:avLst/>
          </a:prstGeom>
          <a:solidFill>
            <a:srgbClr val="4E8A5C"/>
          </a:solidFill>
          <a:ln/>
        </p:spPr>
      </p:sp>
      <p:sp>
        <p:nvSpPr>
          <p:cNvPr id="19" name="Text 17"/>
          <p:cNvSpPr/>
          <p:nvPr/>
        </p:nvSpPr>
        <p:spPr>
          <a:xfrm>
            <a:off x="8347253" y="4873752"/>
            <a:ext cx="27471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達成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 OKR ・ リーダー定例 2026-06-28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3604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566928"/>
            <a:ext cx="384048" cy="77724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73152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 ｜ KR1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パイプライン増　145% 達成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41248" y="2240280"/>
            <a:ext cx="4023360" cy="3017520"/>
          </a:xfrm>
          <a:prstGeom prst="rect">
            <a:avLst/>
          </a:prstGeom>
          <a:solidFill>
            <a:srgbClr val="F7F2EA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07008" y="26517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 Cランク以上 2.35億</a:t>
            </a:r>
            <a:endParaRPr lang="en-US" sz="1300" dirty="0"/>
          </a:p>
          <a:p>
            <a:pPr indent="0" marL="0">
              <a:buNone/>
            </a:pPr>
            <a:r>
              <a:rPr lang="en-US" sz="56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3.4億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Cランク実績　＝　145% 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13248" y="2423160"/>
            <a:ext cx="5937199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目標 2.35億 を大きく上回り達成。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補助金案件が新たに入ってきたことが寄与。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 OKR ・ リーダー定例 2026-06-28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43604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566928"/>
            <a:ext cx="384048" cy="77724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73152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 ｜ KR2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AIによる業務改善施策　＜進行中＞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41248" y="2286000"/>
            <a:ext cx="5026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286000"/>
            <a:ext cx="73152" cy="3108960"/>
          </a:xfrm>
          <a:prstGeom prst="rect">
            <a:avLst/>
          </a:prstGeom>
          <a:solidFill>
            <a:srgbClr val="C4962E"/>
          </a:solidFill>
          <a:ln/>
        </p:spPr>
      </p:sp>
      <p:sp>
        <p:nvSpPr>
          <p:cNvPr id="7" name="Text 5"/>
          <p:cNvSpPr/>
          <p:nvPr/>
        </p:nvSpPr>
        <p:spPr>
          <a:xfrm>
            <a:off x="1152144" y="2542032"/>
            <a:ext cx="447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　</a:t>
            </a:r>
            <a:pPr indent="0" marL="0">
              <a:buNone/>
            </a:pPr>
            <a:r>
              <a:rPr lang="en-US" sz="1700" b="1" dirty="0">
                <a:solidFill>
                  <a:srgbClr val="C496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50%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52144" y="3035808"/>
            <a:ext cx="44224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サポートのボットを作成、運用中</a:t>
            </a:r>
            <a:endParaRPr lang="en-US" sz="1300" dirty="0"/>
          </a:p>
          <a:p>
            <a:pPr indent="0" marL="0">
              <a:lnSpc>
                <a:spcPct val="128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課題：情報の精度が悪い → 改善したい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4448" y="2286000"/>
            <a:ext cx="5026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24448" y="2286000"/>
            <a:ext cx="73152" cy="3108960"/>
          </a:xfrm>
          <a:prstGeom prst="rect">
            <a:avLst/>
          </a:prstGeom>
          <a:solidFill>
            <a:srgbClr val="C4962E"/>
          </a:solidFill>
          <a:ln/>
        </p:spPr>
      </p:sp>
      <p:sp>
        <p:nvSpPr>
          <p:cNvPr id="11" name="Text 9"/>
          <p:cNvSpPr/>
          <p:nvPr/>
        </p:nvSpPr>
        <p:spPr>
          <a:xfrm>
            <a:off x="6635344" y="2542032"/>
            <a:ext cx="447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BIZ　</a:t>
            </a:r>
            <a:pPr indent="0" marL="0">
              <a:buNone/>
            </a:pPr>
            <a:r>
              <a:rPr lang="en-US" sz="1700" b="1" dirty="0">
                <a:solidFill>
                  <a:srgbClr val="C496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35344" y="3035808"/>
            <a:ext cx="4422496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Claudeで事例収集→リテンションを試行中</a:t>
            </a:r>
            <a:endParaRPr lang="en-US" sz="1300" dirty="0"/>
          </a:p>
          <a:p>
            <a:pPr indent="0" marL="0">
              <a:lnSpc>
                <a:spcPct val="128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VUILD事例は豊富だが、リアルなオーナー事例が必要</a:t>
            </a:r>
            <a:endParaRPr lang="en-US" sz="1300" dirty="0"/>
          </a:p>
          <a:p>
            <a:pPr indent="0" marL="0">
              <a:lnSpc>
                <a:spcPct val="128000"/>
              </a:lnSpc>
              <a:spcAft>
                <a:spcPts val="700"/>
              </a:spcAft>
              <a:buNone/>
            </a:pPr>
            <a:r>
              <a:rPr lang="en-US" sz="13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課題：事例集め（行脚・SNS）と保存場所・フォーマット・ルール</a:t>
            </a:r>
            <a:endParaRPr lang="en-US" sz="1300" dirty="0"/>
          </a:p>
          <a:p>
            <a:pPr indent="0" marL="0">
              <a:lnSpc>
                <a:spcPct val="128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オーナー事例はClaudeで集めにくい（最初の雛形集めは戸倉）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 OKR ・ リーダー定例 2026-06-28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3604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566928"/>
            <a:ext cx="384048" cy="77724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73152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Q3 ｜ KR3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事業戦略策定 ＆ 民主化インパクト指標　＜達成＞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41248" y="2468880"/>
            <a:ext cx="10509199" cy="2468880"/>
          </a:xfrm>
          <a:prstGeom prst="rect">
            <a:avLst/>
          </a:prstGeom>
          <a:solidFill>
            <a:srgbClr val="F7F2EA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8448" y="2834640"/>
            <a:ext cx="9594799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事業戦略策定済み　</a:t>
            </a:r>
            <a:pPr indent="0" marL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100%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全社でインパクト指標が出てきた。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 OKR ・ リーダー定例 2026-06-28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604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566928"/>
            <a:ext cx="384048" cy="77724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73152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Q4（7月〜）｜ 全社の方向性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基盤を整える（成長を目指しつつ、守備力を強化）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41248" y="2331720"/>
            <a:ext cx="3259226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" y="2606040"/>
            <a:ext cx="271058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KR1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人事制度の整備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66234" y="2331720"/>
            <a:ext cx="3259226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0554" y="2606040"/>
            <a:ext cx="271058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KR2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採用の強化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1221" y="2331720"/>
            <a:ext cx="3259226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65541" y="2606040"/>
            <a:ext cx="271058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KR3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業務の効率化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343400"/>
            <a:ext cx="10509199" cy="1051560"/>
          </a:xfrm>
          <a:prstGeom prst="rect">
            <a:avLst/>
          </a:prstGeom>
          <a:solidFill>
            <a:srgbClr val="F7F2EA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5568" y="4343400"/>
            <a:ext cx="996055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　</a:t>
            </a:r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ユーザーのリテンション施策を打つ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 OKR ・ リーダー定例 2026-06-28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3604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566928"/>
            <a:ext cx="384048" cy="77724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73152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Q4（7月〜）｜ Platform OKR 案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Objective：来期に民主化を推進するための下準備・仕掛けづくり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41248" y="2240280"/>
            <a:ext cx="10509199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240280"/>
            <a:ext cx="73152" cy="1051560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7" name="Text 5"/>
          <p:cNvSpPr/>
          <p:nvPr/>
        </p:nvSpPr>
        <p:spPr>
          <a:xfrm>
            <a:off x="1152144" y="2395728"/>
            <a:ext cx="99605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KR1　来期ヨミ C → B へのアップ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指標：Shopbot 導入台数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41248" y="3456432"/>
            <a:ext cx="10509199" cy="2331720"/>
          </a:xfrm>
          <a:prstGeom prst="rect">
            <a:avLst/>
          </a:prstGeom>
          <a:solidFill>
            <a:srgbClr val="F7F2EA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" y="3456432"/>
            <a:ext cx="73152" cy="2331720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10" name="Text 8"/>
          <p:cNvSpPr/>
          <p:nvPr/>
        </p:nvSpPr>
        <p:spPr>
          <a:xfrm>
            <a:off x="1152144" y="3611880"/>
            <a:ext cx="996055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KR2　ポータルサイト「ShopBot＋」をリリース（導入300台に合わせて）</a:t>
            </a:r>
            <a:endParaRPr lang="en-US" sz="18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指標：地域クリエイター拠点数 ／ ものづくりに触れた人</a:t>
            </a:r>
            <a:endParaRPr lang="en-US" sz="18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地域クリエイター拠点を ＿＿ 拠点（目標数・定義を決めていく）</a:t>
            </a:r>
            <a:endParaRPr lang="en-US" sz="1800" dirty="0"/>
          </a:p>
          <a:p>
            <a:pPr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★ 地域クリエイターを育てる・フィールドになる拠点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A（挑戦）：大学生向けテストプログラム（木匠塾企画）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 OKR ・ リーダー定例 2026-06-28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3604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566928"/>
            <a:ext cx="384048" cy="77724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73152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Q4 ｜ ShopBot＋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「ShopBot＋」で提供するもの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41248" y="178308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070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ツールは、これらを実現するための「手段」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31720"/>
          <a:ext cx="10509199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840480"/>
                <a:gridCol w="2919679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提供物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担当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22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教育プログラム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70707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みき・ふく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人（人材育成）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70707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戸倉・もえさん・あおやなぎ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EMARF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70707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戸倉・COCO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877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要検討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製材機・乾燥機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70707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井上・すずこう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877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準備中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E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2222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テンプレ（NESTING的）</a:t>
                      </a:r>
                      <a:endParaRPr lang="en-US" sz="15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70707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戸倉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8772E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案</a:t>
                      </a:r>
                      <a:endParaRPr lang="en-US" sz="13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 OKR ・ リーダー定例 2026-06-28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43604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566928"/>
            <a:ext cx="384048" cy="77724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73152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Q4 ｜ 論点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地域クリエイター拠点の「定義」（検討中）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41248" y="2240280"/>
            <a:ext cx="5120640" cy="3200400"/>
          </a:xfrm>
          <a:prstGeom prst="rect">
            <a:avLst/>
          </a:prstGeom>
          <a:solidFill>
            <a:srgbClr val="F7F2EA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61288" y="2487168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定義の核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シェア工房である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エコシステムがある（メンバーコミュニティ）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TO C・地域住民へWS提供／ものづくりに触れる機会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27648" y="2286000"/>
            <a:ext cx="502279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スタンス・論点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工房をオープンにしている（WS実施）とわかりやすい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地域を面白くする・インキュベートする人がいる状態</a:t>
            </a:r>
            <a:endParaRPr lang="en-US" sz="1400" dirty="0"/>
          </a:p>
          <a:p>
            <a:pPr indent="0" marL="0">
              <a:lnSpc>
                <a:spcPct val="128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半クローズの拠点もある → ジャンル分けが必要？</a:t>
            </a:r>
            <a:endParaRPr lang="en-US" sz="14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 拠点側のメリットは？（要検討）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553212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候補：松川Pukto／FabLab南小国／花巻／久米製材／Andforest／森町／上松／新庄村／DIYSTUDIO／太宰府／カインズ／小菅村／iti-setouchi　ほか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 OKR ・ リーダー定例 2026-06-28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43604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566928"/>
            <a:ext cx="384048" cy="77724"/>
          </a:xfrm>
          <a:prstGeom prst="rect">
            <a:avLst/>
          </a:prstGeom>
          <a:solidFill>
            <a:srgbClr val="B8772E"/>
          </a:solidFill>
          <a:ln/>
        </p:spPr>
      </p:sp>
      <p:sp>
        <p:nvSpPr>
          <p:cNvPr id="3" name="Text 1"/>
          <p:cNvSpPr/>
          <p:nvPr/>
        </p:nvSpPr>
        <p:spPr>
          <a:xfrm>
            <a:off x="841248" y="731520"/>
            <a:ext cx="1050919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 ｜ ネクストアクション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841248" y="1078992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次に決める・動かすこと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41248" y="2194560"/>
            <a:ext cx="10509199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95728"/>
            <a:ext cx="237744" cy="237744"/>
          </a:xfrm>
          <a:prstGeom prst="rect">
            <a:avLst/>
          </a:prstGeom>
          <a:ln w="19050">
            <a:solidFill>
              <a:srgbClr val="B877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KR2 / OS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50208" y="2194560"/>
            <a:ext cx="71259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サポートボットの情報精度を改善する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2944368"/>
            <a:ext cx="10509199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3145536"/>
            <a:ext cx="237744" cy="237744"/>
          </a:xfrm>
          <a:prstGeom prst="rect">
            <a:avLst/>
          </a:prstGeom>
          <a:ln w="19050">
            <a:solidFill>
              <a:srgbClr val="B877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29443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KR2 / BIZ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950208" y="2944368"/>
            <a:ext cx="71259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オーナー事例の集め方と、保存場所・フォーマット・ルールを確定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3694176"/>
            <a:ext cx="10509199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" y="3895344"/>
            <a:ext cx="237744" cy="237744"/>
          </a:xfrm>
          <a:prstGeom prst="rect">
            <a:avLst/>
          </a:prstGeom>
          <a:ln w="19050">
            <a:solidFill>
              <a:srgbClr val="B877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3694176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Platform / KR2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950208" y="3694176"/>
            <a:ext cx="71259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地域クリエイター拠点の「定義」と「目標拠点数」を確定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41248" y="4443984"/>
            <a:ext cx="10509199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" y="4645152"/>
            <a:ext cx="237744" cy="237744"/>
          </a:xfrm>
          <a:prstGeom prst="rect">
            <a:avLst/>
          </a:prstGeom>
          <a:ln w="19050">
            <a:solidFill>
              <a:srgbClr val="B877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54480" y="4443984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Platform / B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950208" y="4443984"/>
            <a:ext cx="71259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SB4・自動化のロードマップを別途相談（戸倉・中澤）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41248" y="5193792"/>
            <a:ext cx="10509199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1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97280" y="5394960"/>
            <a:ext cx="237744" cy="237744"/>
          </a:xfrm>
          <a:prstGeom prst="rect">
            <a:avLst/>
          </a:prstGeom>
          <a:ln w="19050">
            <a:solidFill>
              <a:srgbClr val="B877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51937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77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ShopBot＋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950208" y="5193792"/>
            <a:ext cx="71259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222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EMARF まわりの方針を検討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Incubation Team OKR ・ リーダー定例 2026-06-28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36047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8A8A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Incubation OKR Q3/Q4</dc:title>
  <dc:subject>PptxGenJS Presentation</dc:subject>
  <dc:creator>Incubation Team</dc:creator>
  <cp:lastModifiedBy>Incubation Team</cp:lastModifiedBy>
  <cp:revision>1</cp:revision>
  <dcterms:created xsi:type="dcterms:W3CDTF">2026-06-28T23:07:14Z</dcterms:created>
  <dcterms:modified xsi:type="dcterms:W3CDTF">2026-06-28T23:07:14Z</dcterms:modified>
</cp:coreProperties>
</file>